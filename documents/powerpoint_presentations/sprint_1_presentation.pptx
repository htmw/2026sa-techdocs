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Poppins Bold" charset="1" panose="00000800000000000000"/>
      <p:regular r:id="rId38"/>
    </p:embeddedFont>
    <p:embeddedFont>
      <p:font typeface="Nunito" charset="1" panose="00000000000000000000"/>
      <p:regular r:id="rId39"/>
    </p:embeddedFont>
    <p:embeddedFont>
      <p:font typeface="Nunito Bold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4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5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6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2026-sa-tech-docs.vercel.ap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94818" y="4575348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451157" y="-1212832"/>
            <a:ext cx="7315200" cy="4043311"/>
          </a:xfrm>
          <a:custGeom>
            <a:avLst/>
            <a:gdLst/>
            <a:ahLst/>
            <a:cxnLst/>
            <a:rect r="r" b="b" t="t" l="l"/>
            <a:pathLst>
              <a:path h="4043311" w="7315200">
                <a:moveTo>
                  <a:pt x="7315200" y="4043310"/>
                </a:moveTo>
                <a:lnTo>
                  <a:pt x="0" y="4043310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433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8775" y="1946322"/>
            <a:ext cx="2923782" cy="2923782"/>
          </a:xfrm>
          <a:custGeom>
            <a:avLst/>
            <a:gdLst/>
            <a:ahLst/>
            <a:cxnLst/>
            <a:rect r="r" b="b" t="t" l="l"/>
            <a:pathLst>
              <a:path h="2923782" w="2923782">
                <a:moveTo>
                  <a:pt x="0" y="0"/>
                </a:moveTo>
                <a:lnTo>
                  <a:pt x="2923782" y="0"/>
                </a:lnTo>
                <a:lnTo>
                  <a:pt x="2923782" y="2923782"/>
                </a:lnTo>
                <a:lnTo>
                  <a:pt x="0" y="29237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6940" y="4772636"/>
            <a:ext cx="2004761" cy="2088292"/>
          </a:xfrm>
          <a:custGeom>
            <a:avLst/>
            <a:gdLst/>
            <a:ahLst/>
            <a:cxnLst/>
            <a:rect r="r" b="b" t="t" l="l"/>
            <a:pathLst>
              <a:path h="2088292" w="2004761">
                <a:moveTo>
                  <a:pt x="0" y="0"/>
                </a:moveTo>
                <a:lnTo>
                  <a:pt x="2004761" y="0"/>
                </a:lnTo>
                <a:lnTo>
                  <a:pt x="2004761" y="2088292"/>
                </a:lnTo>
                <a:lnTo>
                  <a:pt x="0" y="20882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4859594" y="1993947"/>
            <a:ext cx="861643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NutriAI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8441" y="3946572"/>
            <a:ext cx="10458743" cy="2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TechDocs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34666" y="7117080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CS691 Capstone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85219" y="8206740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Professor Henry Wong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38441" y="302093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9264" y="3691012"/>
            <a:ext cx="14589472" cy="692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Project Description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MVP &amp; Core Features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Diagrams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Algorithms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1 Backlog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Metrics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Personas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Technologies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Retrospective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Working Agreement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Github Link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Demo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3110" y="3974387"/>
            <a:ext cx="13598379" cy="442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Alan Tsui - Team Lead/Full 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Angel Flores - AI/Backend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Erin Sorbella - ML/Front 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James Ambenge - Full-Stack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Qui Neubauer - Full-Stack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Saba Alam - Project Manager/Tester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 &amp; Roles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05595">
            <a:off x="15532598" y="1305607"/>
            <a:ext cx="1516376" cy="1990087"/>
          </a:xfrm>
          <a:custGeom>
            <a:avLst/>
            <a:gdLst/>
            <a:ahLst/>
            <a:cxnLst/>
            <a:rect r="r" b="b" t="t" l="l"/>
            <a:pathLst>
              <a:path h="1990087" w="1516376">
                <a:moveTo>
                  <a:pt x="0" y="0"/>
                </a:moveTo>
                <a:lnTo>
                  <a:pt x="1516376" y="0"/>
                </a:lnTo>
                <a:lnTo>
                  <a:pt x="1516376" y="1990087"/>
                </a:lnTo>
                <a:lnTo>
                  <a:pt x="0" y="1990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05167" y="3349298"/>
            <a:ext cx="14957279" cy="525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NutriAI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This behavior-based app creates a nutrition plan based on your diet, energy, habits, and overall lifestyle. The main focus of this app is to make you healthier, feel more energetic, and reach or maintain a target weight. </a:t>
            </a: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You can login daily and track your food, energy, and cravings. </a:t>
            </a:r>
          </a:p>
          <a:p>
            <a:pPr algn="l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The plan will adjust to </a:t>
            </a:r>
            <a:r>
              <a:rPr lang="en-US" sz="3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your </a:t>
            </a: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daily needs.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Description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044" y="3720012"/>
            <a:ext cx="14728667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Smart Plan Generator: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Generates a personalized daily calorie and macro target.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Hungry”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Provides recommendations based on time since last meal and calorie intake.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Craving”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Allows users to select craving type and receive a simple intervention.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Basic Metrics Dashboard: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Shows weight trend, calorie progress, and appetite score.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Recipe Recommender: 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Recommends a meal with ingredients and recipe instructions when hungry or craving.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User Login &amp; Profile Setup: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Basic account creation with weight, height, goal weight, and lifestyle inputs.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2543" y="1793784"/>
            <a:ext cx="2199311" cy="1983378"/>
          </a:xfrm>
          <a:custGeom>
            <a:avLst/>
            <a:gdLst/>
            <a:ahLst/>
            <a:cxnLst/>
            <a:rect r="r" b="b" t="t" l="l"/>
            <a:pathLst>
              <a:path h="1983378" w="2199311">
                <a:moveTo>
                  <a:pt x="0" y="0"/>
                </a:moveTo>
                <a:lnTo>
                  <a:pt x="2199311" y="0"/>
                </a:lnTo>
                <a:lnTo>
                  <a:pt x="2199311" y="1983378"/>
                </a:lnTo>
                <a:lnTo>
                  <a:pt x="0" y="1983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27712" y="3270296"/>
            <a:ext cx="1831588" cy="2030995"/>
          </a:xfrm>
          <a:custGeom>
            <a:avLst/>
            <a:gdLst/>
            <a:ahLst/>
            <a:cxnLst/>
            <a:rect r="r" b="b" t="t" l="l"/>
            <a:pathLst>
              <a:path h="2030995" w="1831588">
                <a:moveTo>
                  <a:pt x="0" y="0"/>
                </a:moveTo>
                <a:lnTo>
                  <a:pt x="1831588" y="0"/>
                </a:lnTo>
                <a:lnTo>
                  <a:pt x="1831588" y="2030995"/>
                </a:lnTo>
                <a:lnTo>
                  <a:pt x="0" y="2030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MVP/Core Features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32879" y="3989070"/>
            <a:ext cx="6452239" cy="4301493"/>
          </a:xfrm>
          <a:custGeom>
            <a:avLst/>
            <a:gdLst/>
            <a:ahLst/>
            <a:cxnLst/>
            <a:rect r="r" b="b" t="t" l="l"/>
            <a:pathLst>
              <a:path h="4301493" w="6452239">
                <a:moveTo>
                  <a:pt x="0" y="0"/>
                </a:moveTo>
                <a:lnTo>
                  <a:pt x="6452239" y="0"/>
                </a:lnTo>
                <a:lnTo>
                  <a:pt x="6452239" y="4301493"/>
                </a:lnTo>
                <a:lnTo>
                  <a:pt x="0" y="43014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4025811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HEALTH OPTIMIZER 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05374" y="4071621"/>
            <a:ext cx="7331130" cy="460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26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IT Professional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Eric is a former athlete now adapting to a sedentary job. As someone in tech himself, he’s curious in seeing how far an app can be used to assist with nutritional and fitness needs.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70892" y="4383646"/>
            <a:ext cx="6788408" cy="4525605"/>
          </a:xfrm>
          <a:custGeom>
            <a:avLst/>
            <a:gdLst/>
            <a:ahLst/>
            <a:cxnLst/>
            <a:rect r="r" b="b" t="t" l="l"/>
            <a:pathLst>
              <a:path h="4525605" w="6788408">
                <a:moveTo>
                  <a:pt x="0" y="0"/>
                </a:moveTo>
                <a:lnTo>
                  <a:pt x="6788408" y="0"/>
                </a:lnTo>
                <a:lnTo>
                  <a:pt x="6788408" y="4525605"/>
                </a:lnTo>
                <a:lnTo>
                  <a:pt x="0" y="45256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BUSY PROFESSIONAL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08361" y="4081385"/>
            <a:ext cx="6335639" cy="4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42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Office Manager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Beginner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Moderate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Jessica is dedicated to her work, often eating what is convenient rather than what’s healthy. After receiving advice from her doctor to have a more balanced diet, she looks into NutriAI.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67862" y="3994776"/>
            <a:ext cx="7296022" cy="4893803"/>
          </a:xfrm>
          <a:custGeom>
            <a:avLst/>
            <a:gdLst/>
            <a:ahLst/>
            <a:cxnLst/>
            <a:rect r="r" b="b" t="t" l="l"/>
            <a:pathLst>
              <a:path h="4893803" w="7296022">
                <a:moveTo>
                  <a:pt x="0" y="0"/>
                </a:moveTo>
                <a:lnTo>
                  <a:pt x="7296022" y="0"/>
                </a:lnTo>
                <a:lnTo>
                  <a:pt x="7296022" y="4893804"/>
                </a:lnTo>
                <a:lnTo>
                  <a:pt x="0" y="4893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800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OZEMPIC ALTERNATIVE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08705" y="4063904"/>
            <a:ext cx="6359452" cy="5117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34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University Professor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Dylan has recently stopped taking weight loss medication and is looking for help managing his diet and appetite. He’s interested in NutriAI for its “I’m Feeling Hungry” button.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41383" y="4938541"/>
            <a:ext cx="2098815" cy="2098815"/>
          </a:xfrm>
          <a:custGeom>
            <a:avLst/>
            <a:gdLst/>
            <a:ahLst/>
            <a:cxnLst/>
            <a:rect r="r" b="b" t="t" l="l"/>
            <a:pathLst>
              <a:path h="2098815" w="2098815">
                <a:moveTo>
                  <a:pt x="0" y="0"/>
                </a:moveTo>
                <a:lnTo>
                  <a:pt x="2098815" y="0"/>
                </a:lnTo>
                <a:lnTo>
                  <a:pt x="2098815" y="2098815"/>
                </a:lnTo>
                <a:lnTo>
                  <a:pt x="0" y="2098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86725" y="4938541"/>
            <a:ext cx="2203450" cy="2203450"/>
          </a:xfrm>
          <a:custGeom>
            <a:avLst/>
            <a:gdLst/>
            <a:ahLst/>
            <a:cxnLst/>
            <a:rect r="r" b="b" t="t" l="l"/>
            <a:pathLst>
              <a:path h="2203450" w="2203450">
                <a:moveTo>
                  <a:pt x="0" y="0"/>
                </a:moveTo>
                <a:lnTo>
                  <a:pt x="2203450" y="0"/>
                </a:lnTo>
                <a:lnTo>
                  <a:pt x="2203450" y="2203450"/>
                </a:lnTo>
                <a:lnTo>
                  <a:pt x="0" y="22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57271" y="7300741"/>
            <a:ext cx="2262359" cy="2262359"/>
          </a:xfrm>
          <a:custGeom>
            <a:avLst/>
            <a:gdLst/>
            <a:ahLst/>
            <a:cxnLst/>
            <a:rect r="r" b="b" t="t" l="l"/>
            <a:pathLst>
              <a:path h="2262359" w="2262359">
                <a:moveTo>
                  <a:pt x="0" y="0"/>
                </a:moveTo>
                <a:lnTo>
                  <a:pt x="2262358" y="0"/>
                </a:lnTo>
                <a:lnTo>
                  <a:pt x="2262358" y="2262359"/>
                </a:lnTo>
                <a:lnTo>
                  <a:pt x="0" y="2262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39082" y="7300741"/>
            <a:ext cx="2503417" cy="2503417"/>
          </a:xfrm>
          <a:custGeom>
            <a:avLst/>
            <a:gdLst/>
            <a:ahLst/>
            <a:cxnLst/>
            <a:rect r="r" b="b" t="t" l="l"/>
            <a:pathLst>
              <a:path h="2503417" w="2503417">
                <a:moveTo>
                  <a:pt x="0" y="0"/>
                </a:moveTo>
                <a:lnTo>
                  <a:pt x="2503417" y="0"/>
                </a:lnTo>
                <a:lnTo>
                  <a:pt x="2503417" y="2503418"/>
                </a:lnTo>
                <a:lnTo>
                  <a:pt x="0" y="25034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49904" y="7141991"/>
            <a:ext cx="2203450" cy="2203450"/>
          </a:xfrm>
          <a:custGeom>
            <a:avLst/>
            <a:gdLst/>
            <a:ahLst/>
            <a:cxnLst/>
            <a:rect r="r" b="b" t="t" l="l"/>
            <a:pathLst>
              <a:path h="2203450" w="2203450">
                <a:moveTo>
                  <a:pt x="0" y="0"/>
                </a:moveTo>
                <a:lnTo>
                  <a:pt x="2203450" y="0"/>
                </a:lnTo>
                <a:lnTo>
                  <a:pt x="2203450" y="2203450"/>
                </a:lnTo>
                <a:lnTo>
                  <a:pt x="0" y="22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29965" y="4736740"/>
            <a:ext cx="2138568" cy="2138568"/>
          </a:xfrm>
          <a:custGeom>
            <a:avLst/>
            <a:gdLst/>
            <a:ahLst/>
            <a:cxnLst/>
            <a:rect r="r" b="b" t="t" l="l"/>
            <a:pathLst>
              <a:path h="2138568" w="2138568">
                <a:moveTo>
                  <a:pt x="0" y="0"/>
                </a:moveTo>
                <a:lnTo>
                  <a:pt x="2138568" y="0"/>
                </a:lnTo>
                <a:lnTo>
                  <a:pt x="2138568" y="2138568"/>
                </a:lnTo>
                <a:lnTo>
                  <a:pt x="0" y="2138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134646" y="3757587"/>
            <a:ext cx="23122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Frontend: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76756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Backend: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29965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Hosting: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7349" y="3548836"/>
            <a:ext cx="6960928" cy="6195226"/>
          </a:xfrm>
          <a:custGeom>
            <a:avLst/>
            <a:gdLst/>
            <a:ahLst/>
            <a:cxnLst/>
            <a:rect r="r" b="b" t="t" l="l"/>
            <a:pathLst>
              <a:path h="6195226" w="6960928">
                <a:moveTo>
                  <a:pt x="0" y="0"/>
                </a:moveTo>
                <a:lnTo>
                  <a:pt x="6960927" y="0"/>
                </a:lnTo>
                <a:lnTo>
                  <a:pt x="6960927" y="6195226"/>
                </a:lnTo>
                <a:lnTo>
                  <a:pt x="0" y="61952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ER Diagram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64276" y="3554577"/>
            <a:ext cx="7007074" cy="6183743"/>
          </a:xfrm>
          <a:custGeom>
            <a:avLst/>
            <a:gdLst/>
            <a:ahLst/>
            <a:cxnLst/>
            <a:rect r="r" b="b" t="t" l="l"/>
            <a:pathLst>
              <a:path h="6183743" w="7007074">
                <a:moveTo>
                  <a:pt x="0" y="0"/>
                </a:moveTo>
                <a:lnTo>
                  <a:pt x="7007073" y="0"/>
                </a:lnTo>
                <a:lnTo>
                  <a:pt x="7007073" y="6183743"/>
                </a:lnTo>
                <a:lnTo>
                  <a:pt x="0" y="61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249602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Context Diagram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3676228"/>
            <a:ext cx="11301259" cy="5424604"/>
          </a:xfrm>
          <a:custGeom>
            <a:avLst/>
            <a:gdLst/>
            <a:ahLst/>
            <a:cxnLst/>
            <a:rect r="r" b="b" t="t" l="l"/>
            <a:pathLst>
              <a:path h="5424604" w="11301259">
                <a:moveTo>
                  <a:pt x="0" y="0"/>
                </a:moveTo>
                <a:lnTo>
                  <a:pt x="11301258" y="0"/>
                </a:lnTo>
                <a:lnTo>
                  <a:pt x="11301258" y="5424604"/>
                </a:lnTo>
                <a:lnTo>
                  <a:pt x="0" y="54246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422350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Architecture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08464" y="3467970"/>
            <a:ext cx="4918696" cy="6356958"/>
          </a:xfrm>
          <a:custGeom>
            <a:avLst/>
            <a:gdLst/>
            <a:ahLst/>
            <a:cxnLst/>
            <a:rect r="r" b="b" t="t" l="l"/>
            <a:pathLst>
              <a:path h="6356958" w="4918696">
                <a:moveTo>
                  <a:pt x="0" y="0"/>
                </a:moveTo>
                <a:lnTo>
                  <a:pt x="4918697" y="0"/>
                </a:lnTo>
                <a:lnTo>
                  <a:pt x="491869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249602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State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84564" y="3467970"/>
            <a:ext cx="3766498" cy="6356958"/>
          </a:xfrm>
          <a:custGeom>
            <a:avLst/>
            <a:gdLst/>
            <a:ahLst/>
            <a:cxnLst/>
            <a:rect r="r" b="b" t="t" l="l"/>
            <a:pathLst>
              <a:path h="6356958" w="3766498">
                <a:moveTo>
                  <a:pt x="0" y="0"/>
                </a:moveTo>
                <a:lnTo>
                  <a:pt x="3766497" y="0"/>
                </a:lnTo>
                <a:lnTo>
                  <a:pt x="376649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Sequence Diagram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940" y="4651031"/>
            <a:ext cx="6740808" cy="3990836"/>
          </a:xfrm>
          <a:custGeom>
            <a:avLst/>
            <a:gdLst/>
            <a:ahLst/>
            <a:cxnLst/>
            <a:rect r="r" b="b" t="t" l="l"/>
            <a:pathLst>
              <a:path h="3990836" w="6740808">
                <a:moveTo>
                  <a:pt x="0" y="0"/>
                </a:moveTo>
                <a:lnTo>
                  <a:pt x="6740808" y="0"/>
                </a:lnTo>
                <a:lnTo>
                  <a:pt x="6740808" y="3990836"/>
                </a:lnTo>
                <a:lnTo>
                  <a:pt x="0" y="39908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580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80666" y="4585951"/>
            <a:ext cx="6740808" cy="3918095"/>
          </a:xfrm>
          <a:custGeom>
            <a:avLst/>
            <a:gdLst/>
            <a:ahLst/>
            <a:cxnLst/>
            <a:rect r="r" b="b" t="t" l="l"/>
            <a:pathLst>
              <a:path h="3918095" w="6740808">
                <a:moveTo>
                  <a:pt x="0" y="0"/>
                </a:moveTo>
                <a:lnTo>
                  <a:pt x="6740808" y="0"/>
                </a:lnTo>
                <a:lnTo>
                  <a:pt x="6740808" y="3918095"/>
                </a:lnTo>
                <a:lnTo>
                  <a:pt x="0" y="3918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96489" y="1057275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0280" y="3216843"/>
            <a:ext cx="7032129" cy="238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Epic</a:t>
            </a: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urious -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 Recipes with Rating and Nutrition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https://www.kaggle.com/datasets/hugodarwood/epirecipes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  <a:p>
            <a:pPr algn="ctr">
              <a:lnSpc>
                <a:spcPts val="67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80666" y="3308149"/>
            <a:ext cx="6465834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Daily Food &amp; Nutrition Dataset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https://www.kaggle.com/datasets/adilshamim8/daily-food-and-nutrition-dataset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51693" y="8868105"/>
            <a:ext cx="2689027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20,000+ entries of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4691" y="8868105"/>
            <a:ext cx="234047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600+ entries of data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044" y="3720012"/>
            <a:ext cx="14728667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AI Recipe Recommender (Scikit-Learn)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Convert text data into numerical vectors using TF-IDF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Retrieve user information and user input for what they’re “craving”.</a:t>
            </a:r>
          </a:p>
          <a:p>
            <a:pPr algn="l" marL="1295400" indent="-431800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Clean user input by stripping symbols and spacing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Compare user input with recipe vectors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Cosine similarity measures matches with the user’s input and recipes in the dataset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Ranks recipe by similarity score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Returns top matching recipes as recommendations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50472" y="1752382"/>
            <a:ext cx="7908828" cy="2066181"/>
          </a:xfrm>
          <a:custGeom>
            <a:avLst/>
            <a:gdLst/>
            <a:ahLst/>
            <a:cxnLst/>
            <a:rect r="r" b="b" t="t" l="l"/>
            <a:pathLst>
              <a:path h="2066181" w="7908828">
                <a:moveTo>
                  <a:pt x="0" y="0"/>
                </a:moveTo>
                <a:lnTo>
                  <a:pt x="7908828" y="0"/>
                </a:lnTo>
                <a:lnTo>
                  <a:pt x="7908828" y="2066182"/>
                </a:lnTo>
                <a:lnTo>
                  <a:pt x="0" y="20661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201967" y="2241686"/>
          <a:ext cx="11315700" cy="5657850"/>
        </p:xfrm>
        <a:graphic>
          <a:graphicData uri="http://schemas.openxmlformats.org/presentationml/2006/ole">
            <p:oleObj imgW="13576300" imgH="79248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781409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Backlog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170861" y="1752726"/>
          <a:ext cx="11315700" cy="6286500"/>
        </p:xfrm>
        <a:graphic>
          <a:graphicData uri="http://schemas.openxmlformats.org/presentationml/2006/ole">
            <p:oleObj imgW="13576300" imgH="85471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Backlog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028700" y="2156221"/>
          <a:ext cx="11315700" cy="6915150"/>
        </p:xfrm>
        <a:graphic>
          <a:graphicData uri="http://schemas.openxmlformats.org/presentationml/2006/ole">
            <p:oleObj imgW="13576300" imgH="91821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88033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Backlog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028700" y="1943430"/>
          <a:ext cx="15087600" cy="6915150"/>
        </p:xfrm>
        <a:graphic>
          <a:graphicData uri="http://schemas.openxmlformats.org/presentationml/2006/ole">
            <p:oleObj imgW="18097500" imgH="99314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60020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474846" y="2362472"/>
          <a:ext cx="15087600" cy="6286500"/>
        </p:xfrm>
        <a:graphic>
          <a:graphicData uri="http://schemas.openxmlformats.org/presentationml/2006/ole">
            <p:oleObj imgW="18097500" imgH="92964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96357" y="1057275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281661" y="2764419"/>
          <a:ext cx="15087600" cy="4400550"/>
        </p:xfrm>
        <a:graphic>
          <a:graphicData uri="http://schemas.openxmlformats.org/presentationml/2006/ole">
            <p:oleObj imgW="18097500" imgH="74168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600200" y="1725522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36139" y="3772295"/>
            <a:ext cx="9215722" cy="5748307"/>
          </a:xfrm>
          <a:custGeom>
            <a:avLst/>
            <a:gdLst/>
            <a:ahLst/>
            <a:cxnLst/>
            <a:rect r="r" b="b" t="t" l="l"/>
            <a:pathLst>
              <a:path h="5748307" w="9215722">
                <a:moveTo>
                  <a:pt x="0" y="0"/>
                </a:moveTo>
                <a:lnTo>
                  <a:pt x="9215722" y="0"/>
                </a:lnTo>
                <a:lnTo>
                  <a:pt x="9215722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Metrics - Team Velocity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10997" y="3764263"/>
            <a:ext cx="9113632" cy="5764372"/>
          </a:xfrm>
          <a:custGeom>
            <a:avLst/>
            <a:gdLst/>
            <a:ahLst/>
            <a:cxnLst/>
            <a:rect r="r" b="b" t="t" l="l"/>
            <a:pathLst>
              <a:path h="5764372" w="9113632">
                <a:moveTo>
                  <a:pt x="0" y="0"/>
                </a:moveTo>
                <a:lnTo>
                  <a:pt x="9113631" y="0"/>
                </a:lnTo>
                <a:lnTo>
                  <a:pt x="9113631" y="5764372"/>
                </a:lnTo>
                <a:lnTo>
                  <a:pt x="0" y="57643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Metrics - Burndown Chart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54828" y="3620536"/>
            <a:ext cx="9978343" cy="5637764"/>
          </a:xfrm>
          <a:custGeom>
            <a:avLst/>
            <a:gdLst/>
            <a:ahLst/>
            <a:cxnLst/>
            <a:rect r="r" b="b" t="t" l="l"/>
            <a:pathLst>
              <a:path h="5637764" w="9978343">
                <a:moveTo>
                  <a:pt x="0" y="0"/>
                </a:moveTo>
                <a:lnTo>
                  <a:pt x="9978344" y="0"/>
                </a:lnTo>
                <a:lnTo>
                  <a:pt x="9978344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Mockups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40119" y="3819184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7" y="0"/>
                </a:lnTo>
                <a:lnTo>
                  <a:pt x="9855387" y="5654529"/>
                </a:lnTo>
                <a:lnTo>
                  <a:pt x="0" y="56545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Mockups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69710" y="3828769"/>
            <a:ext cx="9996205" cy="5635360"/>
          </a:xfrm>
          <a:custGeom>
            <a:avLst/>
            <a:gdLst/>
            <a:ahLst/>
            <a:cxnLst/>
            <a:rect r="r" b="b" t="t" l="l"/>
            <a:pathLst>
              <a:path h="5635360" w="9996205">
                <a:moveTo>
                  <a:pt x="0" y="0"/>
                </a:moveTo>
                <a:lnTo>
                  <a:pt x="9996205" y="0"/>
                </a:lnTo>
                <a:lnTo>
                  <a:pt x="9996205" y="5635360"/>
                </a:lnTo>
                <a:lnTo>
                  <a:pt x="0" y="56353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Mockups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95899" y="3335422"/>
            <a:ext cx="12296202" cy="6657092"/>
          </a:xfrm>
          <a:custGeom>
            <a:avLst/>
            <a:gdLst/>
            <a:ahLst/>
            <a:cxnLst/>
            <a:rect r="r" b="b" t="t" l="l"/>
            <a:pathLst>
              <a:path h="6657092" w="12296202">
                <a:moveTo>
                  <a:pt x="0" y="0"/>
                </a:moveTo>
                <a:lnTo>
                  <a:pt x="12296202" y="0"/>
                </a:lnTo>
                <a:lnTo>
                  <a:pt x="12296202" y="6657092"/>
                </a:lnTo>
                <a:lnTo>
                  <a:pt x="0" y="66570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49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Retrospective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58" y="-563088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Working Agreement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5118" y="3322625"/>
            <a:ext cx="7275404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Communication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video meeting Saturday @ 4PM on Discord for updates and planning.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WhatsApp check-in on Wednesdays </a:t>
            </a:r>
            <a:r>
              <a:rPr lang="en-US" b="true" sz="23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for status updates.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Members must give advance notice if missing meetings or becoming inactive.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Workflow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Each member works on their assigned feature branch.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 T</a:t>
            </a: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ask Tracker will manage assignments and deadlines.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Code merges require coordination and pull request approval.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18740" y="3504401"/>
            <a:ext cx="6601614" cy="58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Team Values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Treat all team members with respect.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Disagree professionally without personal attacks.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Raise concerns with the team before escalating.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Share work fairly.</a:t>
            </a:r>
          </a:p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Marking Tasks Complete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Features must meet agreed requirements.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Open a pull request and receive at least two approvals.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Update documentation and disclose any AI tool usage.</a:t>
            </a:r>
          </a:p>
          <a:p>
            <a:pPr algn="l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25961" y="4069938"/>
            <a:ext cx="8836078" cy="5809722"/>
          </a:xfrm>
          <a:custGeom>
            <a:avLst/>
            <a:gdLst/>
            <a:ahLst/>
            <a:cxnLst/>
            <a:rect r="r" b="b" t="t" l="l"/>
            <a:pathLst>
              <a:path h="5809722" w="8836078">
                <a:moveTo>
                  <a:pt x="0" y="0"/>
                </a:moveTo>
                <a:lnTo>
                  <a:pt x="8836078" y="0"/>
                </a:lnTo>
                <a:lnTo>
                  <a:pt x="8836078" y="5809722"/>
                </a:lnTo>
                <a:lnTo>
                  <a:pt x="0" y="58097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8623" y="3194096"/>
            <a:ext cx="135983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u="sng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  <a:hlinkClick r:id="rId10" tooltip="https://2026-sa-tech-docs.vercel.app"/>
              </a:rPr>
              <a:t>https://2026-sa-tech-docs.vercel.app/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Wiki Link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4811" y="4775286"/>
            <a:ext cx="135983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https://github.com/htmw/2026SA-TechDocs/wiki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4502" y="4687253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6399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DAHD8nvknsE</dc:identifier>
  <dcterms:modified xsi:type="dcterms:W3CDTF">2011-08-01T06:04:30Z</dcterms:modified>
  <cp:revision>1</cp:revision>
  <dc:title>CS691 Capstone Project Sprint 1 Slides</dc:title>
</cp:coreProperties>
</file>