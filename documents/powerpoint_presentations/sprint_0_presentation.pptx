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 Bold" charset="1" panose="00000800000000000000"/>
      <p:regular r:id="rId21"/>
    </p:embeddedFont>
    <p:embeddedFont>
      <p:font typeface="Nunito" charset="1" panose="00000000000000000000"/>
      <p:regular r:id="rId22"/>
    </p:embeddedFont>
    <p:embeddedFont>
      <p:font typeface="Nunito Bold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11" Target="../media/image25.png" Type="http://schemas.openxmlformats.org/officeDocument/2006/relationships/image"/><Relationship Id="rId12" Target="../media/image2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31.png" Type="http://schemas.openxmlformats.org/officeDocument/2006/relationships/image"/><Relationship Id="rId13" Target="../media/image32.svg" Type="http://schemas.openxmlformats.org/officeDocument/2006/relationships/image"/><Relationship Id="rId14" Target="../media/image33.png" Type="http://schemas.openxmlformats.org/officeDocument/2006/relationships/image"/><Relationship Id="rId15" Target="../media/image34.svg" Type="http://schemas.openxmlformats.org/officeDocument/2006/relationships/image"/><Relationship Id="rId16" Target="../media/image35.png" Type="http://schemas.openxmlformats.org/officeDocument/2006/relationships/image"/><Relationship Id="rId17" Target="../media/image36.svg" Type="http://schemas.openxmlformats.org/officeDocument/2006/relationships/image"/><Relationship Id="rId18" Target="../media/image37.png" Type="http://schemas.openxmlformats.org/officeDocument/2006/relationships/image"/><Relationship Id="rId19" Target="../media/image3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94818" y="4575348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1451157" y="-1212832"/>
            <a:ext cx="7315200" cy="4043311"/>
          </a:xfrm>
          <a:custGeom>
            <a:avLst/>
            <a:gdLst/>
            <a:ahLst/>
            <a:cxnLst/>
            <a:rect r="r" b="b" t="t" l="l"/>
            <a:pathLst>
              <a:path h="4043311" w="7315200">
                <a:moveTo>
                  <a:pt x="7315200" y="4043310"/>
                </a:moveTo>
                <a:lnTo>
                  <a:pt x="0" y="4043310"/>
                </a:lnTo>
                <a:lnTo>
                  <a:pt x="0" y="0"/>
                </a:lnTo>
                <a:lnTo>
                  <a:pt x="7315200" y="0"/>
                </a:lnTo>
                <a:lnTo>
                  <a:pt x="7315200" y="404331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8775" y="1946322"/>
            <a:ext cx="2923782" cy="2923782"/>
          </a:xfrm>
          <a:custGeom>
            <a:avLst/>
            <a:gdLst/>
            <a:ahLst/>
            <a:cxnLst/>
            <a:rect r="r" b="b" t="t" l="l"/>
            <a:pathLst>
              <a:path h="2923782" w="2923782">
                <a:moveTo>
                  <a:pt x="0" y="0"/>
                </a:moveTo>
                <a:lnTo>
                  <a:pt x="2923782" y="0"/>
                </a:lnTo>
                <a:lnTo>
                  <a:pt x="2923782" y="2923782"/>
                </a:lnTo>
                <a:lnTo>
                  <a:pt x="0" y="292378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66940" y="4772636"/>
            <a:ext cx="2004761" cy="2088292"/>
          </a:xfrm>
          <a:custGeom>
            <a:avLst/>
            <a:gdLst/>
            <a:ahLst/>
            <a:cxnLst/>
            <a:rect r="r" b="b" t="t" l="l"/>
            <a:pathLst>
              <a:path h="2088292" w="2004761">
                <a:moveTo>
                  <a:pt x="0" y="0"/>
                </a:moveTo>
                <a:lnTo>
                  <a:pt x="2004761" y="0"/>
                </a:lnTo>
                <a:lnTo>
                  <a:pt x="2004761" y="2088292"/>
                </a:lnTo>
                <a:lnTo>
                  <a:pt x="0" y="208829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4859594" y="1993947"/>
            <a:ext cx="8616437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sz="9000" b="true">
                <a:solidFill>
                  <a:srgbClr val="175520"/>
                </a:solidFill>
                <a:latin typeface="Poppins Bold"/>
                <a:ea typeface="Poppins Bold"/>
                <a:cs typeface="Poppins Bold"/>
                <a:sym typeface="Poppins Bold"/>
              </a:rPr>
              <a:t>NutriAI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38441" y="3946572"/>
            <a:ext cx="10458743" cy="2004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7200" b="true">
                <a:solidFill>
                  <a:srgbClr val="175520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By: TechDocs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34666" y="7117080"/>
            <a:ext cx="11091927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7200" b="true">
                <a:solidFill>
                  <a:srgbClr val="175520"/>
                </a:solidFill>
                <a:latin typeface="Poppins Bold"/>
                <a:ea typeface="Poppins Bold"/>
                <a:cs typeface="Poppins Bold"/>
                <a:sym typeface="Poppins Bold"/>
              </a:rPr>
              <a:t>CS691 Capstone Project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85219" y="8206740"/>
            <a:ext cx="11091927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7200" b="true">
                <a:solidFill>
                  <a:srgbClr val="175520"/>
                </a:solidFill>
                <a:latin typeface="Poppins Bold"/>
                <a:ea typeface="Poppins Bold"/>
                <a:cs typeface="Poppins Bold"/>
                <a:sym typeface="Poppins Bold"/>
              </a:rPr>
              <a:t>Professor Henry Wong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38441" y="302093"/>
            <a:ext cx="11091927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7200" b="true">
                <a:solidFill>
                  <a:srgbClr val="175520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43110" y="3974387"/>
            <a:ext cx="13598379" cy="442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Alan Tsui - Team Lead/Full Stack Developer</a:t>
            </a: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Angel Flores - AI/Backend Developer</a:t>
            </a: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Erin Sorbella - ML/Front End Developer</a:t>
            </a: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James Ambenge - Backend Developer</a:t>
            </a: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Qui Neubauer - Full Stack Developer</a:t>
            </a: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Saba Alam - Project Manager/Tester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381178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Team Members &amp; Roles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49264" y="3681487"/>
            <a:ext cx="14589472" cy="616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Problem Statement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Project Description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MVP &amp; Core Features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Personas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Technologies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Project Schedule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Retrospective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Working Agreement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Wiki Link Page</a:t>
            </a:r>
          </a:p>
          <a:p>
            <a:pPr algn="ctr">
              <a:lnSpc>
                <a:spcPts val="49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381178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AGENDA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805595">
            <a:off x="15532598" y="1305607"/>
            <a:ext cx="1516376" cy="1990087"/>
          </a:xfrm>
          <a:custGeom>
            <a:avLst/>
            <a:gdLst/>
            <a:ahLst/>
            <a:cxnLst/>
            <a:rect r="r" b="b" t="t" l="l"/>
            <a:pathLst>
              <a:path h="1990087" w="1516376">
                <a:moveTo>
                  <a:pt x="0" y="0"/>
                </a:moveTo>
                <a:lnTo>
                  <a:pt x="1516376" y="0"/>
                </a:lnTo>
                <a:lnTo>
                  <a:pt x="1516376" y="1990087"/>
                </a:lnTo>
                <a:lnTo>
                  <a:pt x="0" y="19900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65361" y="3821087"/>
            <a:ext cx="14957279" cy="591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Many people struggle with poor diets and nutrition control. Weight loss medications such as Ozempic have become more popular than ever to help manage hunger and reduce cravings.</a:t>
            </a:r>
          </a:p>
          <a:p>
            <a:pPr algn="l">
              <a:lnSpc>
                <a:spcPts val="5880"/>
              </a:lnSpc>
            </a:pP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Popular weight loss apps such as MyFitnessPal and Lose It! provide useful calorie and macronutrient trackers, but not personalized advice and behavioral coaching to build sustainable habits.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68954" y="2329226"/>
            <a:ext cx="11406622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805595">
            <a:off x="15532598" y="1305607"/>
            <a:ext cx="1516376" cy="1990087"/>
          </a:xfrm>
          <a:custGeom>
            <a:avLst/>
            <a:gdLst/>
            <a:ahLst/>
            <a:cxnLst/>
            <a:rect r="r" b="b" t="t" l="l"/>
            <a:pathLst>
              <a:path h="1990087" w="1516376">
                <a:moveTo>
                  <a:pt x="0" y="0"/>
                </a:moveTo>
                <a:lnTo>
                  <a:pt x="1516376" y="0"/>
                </a:lnTo>
                <a:lnTo>
                  <a:pt x="1516376" y="1990087"/>
                </a:lnTo>
                <a:lnTo>
                  <a:pt x="0" y="19900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94103" y="3349298"/>
            <a:ext cx="14957279" cy="525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NutriAI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This behavior-based app creates a nutrition plan based on your diet, energy, habits, and overall lifestyle. The main focus of this app is to make you healthier, feel more energetic, and reach or maintain a target weight. </a:t>
            </a:r>
            <a:r>
              <a:rPr lang="en-US" sz="3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You can login daily and track your food, energy, and cravings. </a:t>
            </a:r>
          </a:p>
          <a:p>
            <a:pPr algn="l">
              <a:lnSpc>
                <a:spcPts val="4620"/>
              </a:lnSpc>
            </a:pPr>
          </a:p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The plan will adjust to </a:t>
            </a:r>
            <a:r>
              <a:rPr lang="en-US" sz="3300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your </a:t>
            </a:r>
            <a:r>
              <a:rPr lang="en-US" sz="3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daily needs.</a:t>
            </a:r>
          </a:p>
          <a:p>
            <a:pPr algn="l">
              <a:lnSpc>
                <a:spcPts val="462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068954" y="2329226"/>
            <a:ext cx="11406622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Description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9044" y="3720012"/>
            <a:ext cx="14728667" cy="531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U</a:t>
            </a: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ser Login &amp; Profile Setup: </a:t>
            </a: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Basic account creation with weight, height, goal weight, and lifestyle inputs.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Smart Plan Generator:</a:t>
            </a: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Generates a personalized daily calorie and macro target.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“I’m Hungry” Button:</a:t>
            </a: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Provides recommendations based on time since last meal and calorie intake.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“I’m Craving” Button:</a:t>
            </a: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Allows users to select craving type and receive a simple intervention.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Daily Appetite Risk Score: </a:t>
            </a: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Displays a basic prediction of hunger risk for the day.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Basic Metrics Dashboard:</a:t>
            </a: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Shows weight trend, calorie progress, and appetite score.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862543" y="1793784"/>
            <a:ext cx="2199311" cy="1983378"/>
          </a:xfrm>
          <a:custGeom>
            <a:avLst/>
            <a:gdLst/>
            <a:ahLst/>
            <a:cxnLst/>
            <a:rect r="r" b="b" t="t" l="l"/>
            <a:pathLst>
              <a:path h="1983378" w="2199311">
                <a:moveTo>
                  <a:pt x="0" y="0"/>
                </a:moveTo>
                <a:lnTo>
                  <a:pt x="2199311" y="0"/>
                </a:lnTo>
                <a:lnTo>
                  <a:pt x="2199311" y="1983378"/>
                </a:lnTo>
                <a:lnTo>
                  <a:pt x="0" y="19833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427712" y="3270296"/>
            <a:ext cx="1831588" cy="2030995"/>
          </a:xfrm>
          <a:custGeom>
            <a:avLst/>
            <a:gdLst/>
            <a:ahLst/>
            <a:cxnLst/>
            <a:rect r="r" b="b" t="t" l="l"/>
            <a:pathLst>
              <a:path h="2030995" w="1831588">
                <a:moveTo>
                  <a:pt x="0" y="0"/>
                </a:moveTo>
                <a:lnTo>
                  <a:pt x="1831588" y="0"/>
                </a:lnTo>
                <a:lnTo>
                  <a:pt x="1831588" y="2030995"/>
                </a:lnTo>
                <a:lnTo>
                  <a:pt x="0" y="203099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68954" y="2329226"/>
            <a:ext cx="11406622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MVP/Core Features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8954" y="2329226"/>
            <a:ext cx="14025811" cy="263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THE HEALTH OPTIMIZER </a:t>
            </a:r>
          </a:p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</a:t>
            </a:r>
          </a:p>
          <a:p>
            <a:pPr algn="l">
              <a:lnSpc>
                <a:spcPts val="671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807970" y="3941445"/>
            <a:ext cx="12671279" cy="357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b="true" sz="2899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Age: </a:t>
            </a:r>
            <a:r>
              <a:rPr lang="en-US" sz="2899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26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b="true" sz="2899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Occupation: </a:t>
            </a:r>
            <a:r>
              <a:rPr lang="en-US" sz="2899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Young Professi</a:t>
            </a:r>
            <a:r>
              <a:rPr lang="en-US" sz="2899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onal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b="true" sz="2899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Fitness Level: </a:t>
            </a:r>
            <a:r>
              <a:rPr lang="en-US" sz="2899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Moderate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b="true" sz="2899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Technology Comfort:</a:t>
            </a:r>
            <a:r>
              <a:rPr lang="en-US" sz="2899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High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b="true" sz="2899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Goal: </a:t>
            </a:r>
            <a:r>
              <a:rPr lang="en-US" sz="2899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Improve nutrition, build better habits, and feel more energized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b="true" sz="2899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Challenge:</a:t>
            </a:r>
            <a:r>
              <a:rPr lang="en-US" sz="2899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Struggles with sugar cravings and inconsistent eating habits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8954" y="2329226"/>
            <a:ext cx="13811780" cy="263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THE BUSY PROFESSIONAL</a:t>
            </a:r>
          </a:p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</a:t>
            </a:r>
          </a:p>
          <a:p>
            <a:pPr algn="l">
              <a:lnSpc>
                <a:spcPts val="671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808361" y="3941685"/>
            <a:ext cx="12671279" cy="4603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</a:p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Age: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42</a:t>
            </a:r>
          </a:p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Occupation: 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Manager</a:t>
            </a:r>
          </a:p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Fitness Level: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Beginner</a:t>
            </a:r>
          </a:p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Technology Comfort: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Moderate</a:t>
            </a:r>
          </a:p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Goal: 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Stay healthy and keep steady energy during busy work weeks</a:t>
            </a:r>
          </a:p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Challenge: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Has little time to plan meals and often eats whatever is quick and easy</a:t>
            </a:r>
          </a:p>
          <a:p>
            <a:pPr algn="l">
              <a:lnSpc>
                <a:spcPts val="406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8954" y="2329226"/>
            <a:ext cx="13811780" cy="263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THE OZEMPIC ALTERNATIVE</a:t>
            </a:r>
          </a:p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</a:t>
            </a:r>
          </a:p>
          <a:p>
            <a:pPr algn="l">
              <a:lnSpc>
                <a:spcPts val="671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808361" y="3941685"/>
            <a:ext cx="12671279" cy="4603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</a:p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Age: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34</a:t>
            </a:r>
          </a:p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Occupation: 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Office Professional</a:t>
            </a:r>
          </a:p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Fitness Level: 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Moderate</a:t>
            </a:r>
          </a:p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Technology Comfort: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High</a:t>
            </a:r>
          </a:p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Goal: 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Lose weight and control hunger without using medication</a:t>
            </a:r>
          </a:p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Challenge: 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Often feels hungry and eats more than planned, especially at night</a:t>
            </a:r>
          </a:p>
          <a:p>
            <a:pPr algn="l">
              <a:lnSpc>
                <a:spcPts val="406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41383" y="4938541"/>
            <a:ext cx="2098815" cy="2098815"/>
          </a:xfrm>
          <a:custGeom>
            <a:avLst/>
            <a:gdLst/>
            <a:ahLst/>
            <a:cxnLst/>
            <a:rect r="r" b="b" t="t" l="l"/>
            <a:pathLst>
              <a:path h="2098815" w="2098815">
                <a:moveTo>
                  <a:pt x="0" y="0"/>
                </a:moveTo>
                <a:lnTo>
                  <a:pt x="2098815" y="0"/>
                </a:lnTo>
                <a:lnTo>
                  <a:pt x="2098815" y="2098815"/>
                </a:lnTo>
                <a:lnTo>
                  <a:pt x="0" y="20988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86725" y="4938541"/>
            <a:ext cx="2203450" cy="2203450"/>
          </a:xfrm>
          <a:custGeom>
            <a:avLst/>
            <a:gdLst/>
            <a:ahLst/>
            <a:cxnLst/>
            <a:rect r="r" b="b" t="t" l="l"/>
            <a:pathLst>
              <a:path h="2203450" w="2203450">
                <a:moveTo>
                  <a:pt x="0" y="0"/>
                </a:moveTo>
                <a:lnTo>
                  <a:pt x="2203450" y="0"/>
                </a:lnTo>
                <a:lnTo>
                  <a:pt x="2203450" y="2203450"/>
                </a:lnTo>
                <a:lnTo>
                  <a:pt x="0" y="22034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057271" y="7300741"/>
            <a:ext cx="2262359" cy="2262359"/>
          </a:xfrm>
          <a:custGeom>
            <a:avLst/>
            <a:gdLst/>
            <a:ahLst/>
            <a:cxnLst/>
            <a:rect r="r" b="b" t="t" l="l"/>
            <a:pathLst>
              <a:path h="2262359" w="2262359">
                <a:moveTo>
                  <a:pt x="0" y="0"/>
                </a:moveTo>
                <a:lnTo>
                  <a:pt x="2262358" y="0"/>
                </a:lnTo>
                <a:lnTo>
                  <a:pt x="2262358" y="2262359"/>
                </a:lnTo>
                <a:lnTo>
                  <a:pt x="0" y="226235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39082" y="7300741"/>
            <a:ext cx="2503417" cy="2503417"/>
          </a:xfrm>
          <a:custGeom>
            <a:avLst/>
            <a:gdLst/>
            <a:ahLst/>
            <a:cxnLst/>
            <a:rect r="r" b="b" t="t" l="l"/>
            <a:pathLst>
              <a:path h="2503417" w="2503417">
                <a:moveTo>
                  <a:pt x="0" y="0"/>
                </a:moveTo>
                <a:lnTo>
                  <a:pt x="2503417" y="0"/>
                </a:lnTo>
                <a:lnTo>
                  <a:pt x="2503417" y="2503418"/>
                </a:lnTo>
                <a:lnTo>
                  <a:pt x="0" y="250341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949904" y="7141991"/>
            <a:ext cx="2203450" cy="2203450"/>
          </a:xfrm>
          <a:custGeom>
            <a:avLst/>
            <a:gdLst/>
            <a:ahLst/>
            <a:cxnLst/>
            <a:rect r="r" b="b" t="t" l="l"/>
            <a:pathLst>
              <a:path h="2203450" w="2203450">
                <a:moveTo>
                  <a:pt x="0" y="0"/>
                </a:moveTo>
                <a:lnTo>
                  <a:pt x="2203450" y="0"/>
                </a:lnTo>
                <a:lnTo>
                  <a:pt x="2203450" y="2203450"/>
                </a:lnTo>
                <a:lnTo>
                  <a:pt x="0" y="220345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929965" y="4736740"/>
            <a:ext cx="2138568" cy="2138568"/>
          </a:xfrm>
          <a:custGeom>
            <a:avLst/>
            <a:gdLst/>
            <a:ahLst/>
            <a:cxnLst/>
            <a:rect r="r" b="b" t="t" l="l"/>
            <a:pathLst>
              <a:path h="2138568" w="2138568">
                <a:moveTo>
                  <a:pt x="0" y="0"/>
                </a:moveTo>
                <a:lnTo>
                  <a:pt x="2138568" y="0"/>
                </a:lnTo>
                <a:lnTo>
                  <a:pt x="2138568" y="2138568"/>
                </a:lnTo>
                <a:lnTo>
                  <a:pt x="0" y="213856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134646" y="3757587"/>
            <a:ext cx="231228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Frontend: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68954" y="2329226"/>
            <a:ext cx="11406622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Tech Stack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76756" y="3757587"/>
            <a:ext cx="222338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Backend: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29965" y="3757587"/>
            <a:ext cx="222338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Hosting: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8954" y="2329226"/>
            <a:ext cx="1381178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Schedule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58008" y="4082415"/>
            <a:ext cx="198318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Sprint 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48318" y="4082415"/>
            <a:ext cx="198318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Sprint 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91027" y="4082415"/>
            <a:ext cx="198318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Sprint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33737" y="4082415"/>
            <a:ext cx="198318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Sprint 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4659" y="4884420"/>
            <a:ext cx="3749882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6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Jan 26 - Feb 15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12569" y="4884420"/>
            <a:ext cx="4054682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6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Feb 15 - Mar 15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55279" y="4884420"/>
            <a:ext cx="4054682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6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Mar 15 - Apr 12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97988" y="4884420"/>
            <a:ext cx="4054682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6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Apr 12 - May 10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62687" y="5567045"/>
            <a:ext cx="3749882" cy="134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12" indent="-215906" lvl="1">
              <a:lnSpc>
                <a:spcPts val="2100"/>
              </a:lnSpc>
              <a:buFont typeface="Arial"/>
              <a:buChar char="•"/>
            </a:pPr>
            <a:r>
              <a:rPr lang="en-US" sz="2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Finalize app features</a:t>
            </a:r>
          </a:p>
          <a:p>
            <a:pPr algn="l" marL="431812" indent="-215906" lvl="1">
              <a:lnSpc>
                <a:spcPts val="2100"/>
              </a:lnSpc>
              <a:buFont typeface="Arial"/>
              <a:buChar char="•"/>
            </a:pPr>
            <a:r>
              <a:rPr lang="en-US" sz="2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Confirm tech stack</a:t>
            </a:r>
          </a:p>
          <a:p>
            <a:pPr algn="l" marL="431812" indent="-215906" lvl="1">
              <a:lnSpc>
                <a:spcPts val="2100"/>
              </a:lnSpc>
              <a:buFont typeface="Arial"/>
              <a:buChar char="•"/>
            </a:pPr>
            <a:r>
              <a:rPr lang="en-US" sz="2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Assign roles</a:t>
            </a:r>
          </a:p>
          <a:p>
            <a:pPr algn="l" marL="431812" indent="-215906" lvl="1">
              <a:lnSpc>
                <a:spcPts val="2100"/>
              </a:lnSpc>
              <a:buFont typeface="Arial"/>
              <a:buChar char="•"/>
            </a:pPr>
            <a:r>
              <a:rPr lang="en-US" sz="2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Set up GitHub, Wiki, and task tracker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84182" y="5567045"/>
            <a:ext cx="4171097" cy="1076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12" indent="-215906" lvl="1">
              <a:lnSpc>
                <a:spcPts val="2100"/>
              </a:lnSpc>
              <a:buFont typeface="Arial"/>
              <a:buChar char="•"/>
            </a:pPr>
            <a:r>
              <a:rPr lang="en-US" sz="2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Design system architecture</a:t>
            </a:r>
          </a:p>
          <a:p>
            <a:pPr algn="l" marL="431812" indent="-215906" lvl="1">
              <a:lnSpc>
                <a:spcPts val="2100"/>
              </a:lnSpc>
              <a:buFont typeface="Arial"/>
              <a:buChar char="•"/>
            </a:pPr>
            <a:r>
              <a:rPr lang="en-US" sz="2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Build core feature structure</a:t>
            </a:r>
          </a:p>
          <a:p>
            <a:pPr algn="l" marL="431812" indent="-215906" lvl="1">
              <a:lnSpc>
                <a:spcPts val="2100"/>
              </a:lnSpc>
              <a:buFont typeface="Arial"/>
              <a:buChar char="•"/>
            </a:pPr>
            <a:r>
              <a:rPr lang="en-US" sz="2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Create basic UI</a:t>
            </a:r>
          </a:p>
          <a:p>
            <a:pPr algn="l" marL="431812" indent="-215906" lvl="1">
              <a:lnSpc>
                <a:spcPts val="2100"/>
              </a:lnSpc>
              <a:buFont typeface="Arial"/>
              <a:buChar char="•"/>
            </a:pPr>
            <a:r>
              <a:rPr lang="en-US" sz="2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Update documentation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0" y="5567045"/>
            <a:ext cx="4765753" cy="1076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12" indent="-215906" lvl="1">
              <a:lnSpc>
                <a:spcPts val="2100"/>
              </a:lnSpc>
              <a:buFont typeface="Arial"/>
              <a:buChar char="•"/>
            </a:pPr>
            <a:r>
              <a:rPr lang="en-US" sz="2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Develop and integrate features</a:t>
            </a:r>
          </a:p>
          <a:p>
            <a:pPr algn="l" marL="431812" indent="-215906" lvl="1">
              <a:lnSpc>
                <a:spcPts val="2100"/>
              </a:lnSpc>
              <a:buFont typeface="Arial"/>
              <a:buChar char="•"/>
            </a:pPr>
            <a:r>
              <a:rPr lang="en-US" sz="2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Implement ML compon</a:t>
            </a:r>
            <a:r>
              <a:rPr lang="en-US" sz="2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ents</a:t>
            </a:r>
          </a:p>
          <a:p>
            <a:pPr algn="l" marL="431812" indent="-215906" lvl="1">
              <a:lnSpc>
                <a:spcPts val="2100"/>
              </a:lnSpc>
              <a:buFont typeface="Arial"/>
              <a:buChar char="•"/>
            </a:pPr>
            <a:r>
              <a:rPr lang="en-US" sz="2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Deploy basic working version</a:t>
            </a:r>
          </a:p>
          <a:p>
            <a:pPr algn="l" marL="431812" indent="-215906" lvl="1">
              <a:lnSpc>
                <a:spcPts val="2100"/>
              </a:lnSpc>
              <a:buFont typeface="Arial"/>
              <a:buChar char="•"/>
            </a:pPr>
            <a:r>
              <a:rPr lang="en-US" sz="2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Conduct retrospective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97988" y="5567045"/>
            <a:ext cx="4765753" cy="1076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12" indent="-215906" lvl="1">
              <a:lnSpc>
                <a:spcPts val="2100"/>
              </a:lnSpc>
              <a:buFont typeface="Arial"/>
              <a:buChar char="•"/>
            </a:pPr>
            <a:r>
              <a:rPr lang="en-US" sz="2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Final integration and testing</a:t>
            </a:r>
          </a:p>
          <a:p>
            <a:pPr algn="l" marL="431812" indent="-215906" lvl="1">
              <a:lnSpc>
                <a:spcPts val="2100"/>
              </a:lnSpc>
              <a:buFont typeface="Arial"/>
              <a:buChar char="•"/>
            </a:pPr>
            <a:r>
              <a:rPr lang="en-US" sz="2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Optimize and refine features</a:t>
            </a:r>
          </a:p>
          <a:p>
            <a:pPr algn="l" marL="431812" indent="-215906" lvl="1">
              <a:lnSpc>
                <a:spcPts val="2100"/>
              </a:lnSpc>
              <a:buFont typeface="Arial"/>
              <a:buChar char="•"/>
            </a:pPr>
            <a:r>
              <a:rPr lang="en-US" sz="2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Complet</a:t>
            </a:r>
            <a:r>
              <a:rPr lang="en-US" sz="2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e technical paper</a:t>
            </a:r>
          </a:p>
          <a:p>
            <a:pPr algn="l" marL="431812" indent="-215906" lvl="1">
              <a:lnSpc>
                <a:spcPts val="2100"/>
              </a:lnSpc>
              <a:buFont typeface="Arial"/>
              <a:buChar char="•"/>
            </a:pPr>
            <a:r>
              <a:rPr lang="en-US" sz="2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Final review and retrospective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68954" y="2329226"/>
            <a:ext cx="11406622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Retrospective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05027" y="3677990"/>
            <a:ext cx="4383090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What went well?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30553" y="3677990"/>
            <a:ext cx="5754690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What can we improve?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72893" y="4777320"/>
            <a:ext cx="5847358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3149"/>
              </a:lnSpc>
              <a:buFont typeface="Arial"/>
              <a:buChar char="•"/>
            </a:pPr>
            <a:r>
              <a:rPr lang="en-US" sz="2999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Everyone shared ideas and participated</a:t>
            </a:r>
          </a:p>
          <a:p>
            <a:pPr algn="l" marL="647697" indent="-323848" lvl="1">
              <a:lnSpc>
                <a:spcPts val="3149"/>
              </a:lnSpc>
              <a:buFont typeface="Arial"/>
              <a:buChar char="•"/>
            </a:pPr>
            <a:r>
              <a:rPr lang="en-US" sz="2999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We agreed on our project idea</a:t>
            </a:r>
          </a:p>
          <a:p>
            <a:pPr algn="l" marL="647697" indent="-323848" lvl="1">
              <a:lnSpc>
                <a:spcPts val="3149"/>
              </a:lnSpc>
              <a:buFont typeface="Arial"/>
              <a:buChar char="•"/>
            </a:pPr>
            <a:r>
              <a:rPr lang="en-US" sz="2999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We chose a tech stack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67749" y="4777320"/>
            <a:ext cx="5847358" cy="160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6" indent="-323853" lvl="1">
              <a:lnSpc>
                <a:spcPts val="3150"/>
              </a:lnSpc>
              <a:buFont typeface="Arial"/>
              <a:buChar char="•"/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We can define features earlier</a:t>
            </a:r>
          </a:p>
          <a:p>
            <a:pPr algn="l" marL="647706" indent="-323853" lvl="1">
              <a:lnSpc>
                <a:spcPts val="3150"/>
              </a:lnSpc>
              <a:buFont typeface="Arial"/>
              <a:buChar char="•"/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We can assign roles sooner</a:t>
            </a:r>
          </a:p>
          <a:p>
            <a:pPr algn="l" marL="647706" indent="-323853" lvl="1">
              <a:lnSpc>
                <a:spcPts val="3150"/>
              </a:lnSpc>
              <a:buFont typeface="Arial"/>
              <a:buChar char="•"/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We can schedule meetings earlier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14068" y="7648574"/>
            <a:ext cx="6491569" cy="160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6" indent="-323853" lvl="1">
              <a:lnSpc>
                <a:spcPts val="3150"/>
              </a:lnSpc>
              <a:buFont typeface="Arial"/>
              <a:buChar char="•"/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Lock in features before building</a:t>
            </a:r>
          </a:p>
          <a:p>
            <a:pPr algn="l" marL="647706" indent="-323853" lvl="1">
              <a:lnSpc>
                <a:spcPts val="3150"/>
              </a:lnSpc>
              <a:buFont typeface="Arial"/>
              <a:buChar char="•"/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Meet weekly and give updates</a:t>
            </a:r>
          </a:p>
          <a:p>
            <a:pPr algn="l" marL="647706" indent="-323853" lvl="1">
              <a:lnSpc>
                <a:spcPts val="3150"/>
              </a:lnSpc>
              <a:buFont typeface="Arial"/>
              <a:buChar char="•"/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Finish tasks on time</a:t>
            </a:r>
          </a:p>
          <a:p>
            <a:pPr algn="l">
              <a:lnSpc>
                <a:spcPts val="315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882507" y="6653746"/>
            <a:ext cx="5754690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Our commitments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03858" y="-563088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8954" y="2329226"/>
            <a:ext cx="1381178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Team Working Agreement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45118" y="3322625"/>
            <a:ext cx="7275404" cy="598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Communication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Weekly video meeting Saturday @ 4PM on Discord for updates and planning.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Weekly WhatsApp check-in on Wednesdays </a:t>
            </a:r>
            <a:r>
              <a:rPr lang="en-US" b="true" sz="23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for status updates.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Members must give advance notice if missing meetings or becoming inactive.</a:t>
            </a: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Workflow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Each member works on their assigned feature branch.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A T</a:t>
            </a:r>
            <a:r>
              <a:rPr lang="en-US" sz="2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ask Tracker will manage assignments and deadlines.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Code merges require coordination and pull request approval.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418740" y="3504401"/>
            <a:ext cx="6601614" cy="5816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9"/>
              </a:lnSpc>
            </a:pPr>
            <a:r>
              <a:rPr lang="en-US" sz="2370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Team Values</a:t>
            </a:r>
          </a:p>
          <a:p>
            <a:pPr algn="l" marL="511863" indent="-255931" lvl="1">
              <a:lnSpc>
                <a:spcPts val="3319"/>
              </a:lnSpc>
              <a:buFont typeface="Arial"/>
              <a:buChar char="•"/>
            </a:pPr>
            <a:r>
              <a:rPr lang="en-US" sz="237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Treat all team members with respect.</a:t>
            </a:r>
          </a:p>
          <a:p>
            <a:pPr algn="l" marL="511863" indent="-255931" lvl="1">
              <a:lnSpc>
                <a:spcPts val="3319"/>
              </a:lnSpc>
              <a:buFont typeface="Arial"/>
              <a:buChar char="•"/>
            </a:pPr>
            <a:r>
              <a:rPr lang="en-US" sz="237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Disagree professionally without personal attacks.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Raise concerns with the team before escalating.</a:t>
            </a:r>
          </a:p>
          <a:p>
            <a:pPr algn="l" marL="511863" indent="-255931" lvl="1">
              <a:lnSpc>
                <a:spcPts val="3319"/>
              </a:lnSpc>
              <a:buFont typeface="Arial"/>
              <a:buChar char="•"/>
            </a:pPr>
            <a:r>
              <a:rPr lang="en-US" sz="237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Share work fairly.</a:t>
            </a:r>
          </a:p>
          <a:p>
            <a:pPr algn="l">
              <a:lnSpc>
                <a:spcPts val="3319"/>
              </a:lnSpc>
            </a:pPr>
            <a:r>
              <a:rPr lang="en-US" sz="2370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Marking Tasks Complete</a:t>
            </a:r>
          </a:p>
          <a:p>
            <a:pPr algn="l" marL="511863" indent="-255931" lvl="1">
              <a:lnSpc>
                <a:spcPts val="3319"/>
              </a:lnSpc>
              <a:buFont typeface="Arial"/>
              <a:buChar char="•"/>
            </a:pPr>
            <a:r>
              <a:rPr lang="en-US" sz="237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Features must meet agreed requirements.</a:t>
            </a:r>
          </a:p>
          <a:p>
            <a:pPr algn="l" marL="511863" indent="-255931" lvl="1">
              <a:lnSpc>
                <a:spcPts val="3319"/>
              </a:lnSpc>
              <a:buFont typeface="Arial"/>
              <a:buChar char="•"/>
            </a:pPr>
            <a:r>
              <a:rPr lang="en-US" sz="237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Open a pull request and receive at least two approvals.</a:t>
            </a:r>
          </a:p>
          <a:p>
            <a:pPr algn="l" marL="511863" indent="-255931" lvl="1">
              <a:lnSpc>
                <a:spcPts val="3319"/>
              </a:lnSpc>
              <a:buFont typeface="Arial"/>
              <a:buChar char="•"/>
            </a:pPr>
            <a:r>
              <a:rPr lang="en-US" sz="237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Update documentation and disclose any AI tool usage.</a:t>
            </a:r>
          </a:p>
          <a:p>
            <a:pPr algn="l">
              <a:lnSpc>
                <a:spcPts val="331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8954" y="2329226"/>
            <a:ext cx="1381178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Wiki Link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44811" y="4775286"/>
            <a:ext cx="1359837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https://github.com/htmw/2026SA-TechDocs/wiki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64502" y="4687253"/>
            <a:ext cx="11406622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6399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DAHBU4DIs4o</dc:identifier>
  <dcterms:modified xsi:type="dcterms:W3CDTF">2011-08-01T06:04:30Z</dcterms:modified>
  <cp:revision>1</cp:revision>
  <dc:title>CS691 Capstone Project Slides</dc:title>
</cp:coreProperties>
</file>