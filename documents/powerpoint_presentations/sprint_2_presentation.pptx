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</p:sldIdLst>
  <p:sldSz cx="18288000" cy="10287000"/>
  <p:notesSz cx="6858000" cy="9144000"/>
  <p:embeddedFontLst>
    <p:embeddedFont>
      <p:font typeface="Poppins Bold" charset="1" panose="00000800000000000000"/>
      <p:regular r:id="rId39"/>
    </p:embeddedFont>
    <p:embeddedFont>
      <p:font typeface="Nunito" charset="1" panose="00000000000000000000"/>
      <p:regular r:id="rId40"/>
    </p:embeddedFont>
    <p:embeddedFont>
      <p:font typeface="Nunito Bold" charset="1" panose="00000000000000000000"/>
      <p:regular r:id="rId41"/>
    </p:embeddedFont>
    <p:embeddedFont>
      <p:font typeface="Poppins" charset="1" panose="00000500000000000000"/>
      <p:regular r:id="rId4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fonts/font41.fntdata" Type="http://schemas.openxmlformats.org/officeDocument/2006/relationships/font"/><Relationship Id="rId42" Target="fonts/font42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7.png" Type="http://schemas.openxmlformats.org/officeDocument/2006/relationships/image"/><Relationship Id="rId7" Target="../media/image16.png" Type="http://schemas.openxmlformats.org/officeDocument/2006/relationships/image"/><Relationship Id="rId8" Target="../media/image17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7.png" Type="http://schemas.openxmlformats.org/officeDocument/2006/relationships/image"/><Relationship Id="rId7" Target="../media/image16.png" Type="http://schemas.openxmlformats.org/officeDocument/2006/relationships/image"/><Relationship Id="rId8" Target="../media/image1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7.png" Type="http://schemas.openxmlformats.org/officeDocument/2006/relationships/image"/><Relationship Id="rId7" Target="../media/image18.png" Type="http://schemas.openxmlformats.org/officeDocument/2006/relationships/image"/><Relationship Id="rId8" Target="../media/image19.svg" Type="http://schemas.openxmlformats.org/officeDocument/2006/relationships/image"/><Relationship Id="rId9" Target="../media/image2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svg" Type="http://schemas.openxmlformats.org/officeDocument/2006/relationships/image"/><Relationship Id="rId11" Target="../media/image24.png" Type="http://schemas.openxmlformats.org/officeDocument/2006/relationships/image"/><Relationship Id="rId12" Target="../media/image25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7.png" Type="http://schemas.openxmlformats.org/officeDocument/2006/relationships/image"/><Relationship Id="rId7" Target="../media/image18.png" Type="http://schemas.openxmlformats.org/officeDocument/2006/relationships/image"/><Relationship Id="rId8" Target="../media/image19.svg" Type="http://schemas.openxmlformats.org/officeDocument/2006/relationships/image"/><Relationship Id="rId9" Target="../media/image2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7.png" Type="http://schemas.openxmlformats.org/officeDocument/2006/relationships/image"/><Relationship Id="rId7" Target="../media/image16.png" Type="http://schemas.openxmlformats.org/officeDocument/2006/relationships/image"/><Relationship Id="rId8" Target="../media/image17.svg" Type="http://schemas.openxmlformats.org/officeDocument/2006/relationships/image"/><Relationship Id="rId9" Target="../media/image2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7.png" Type="http://schemas.openxmlformats.org/officeDocument/2006/relationships/image"/><Relationship Id="rId7" Target="../media/image16.png" Type="http://schemas.openxmlformats.org/officeDocument/2006/relationships/image"/><Relationship Id="rId8" Target="../media/image17.svg" Type="http://schemas.openxmlformats.org/officeDocument/2006/relationships/image"/><Relationship Id="rId9" Target="../media/image2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7.png" Type="http://schemas.openxmlformats.org/officeDocument/2006/relationships/image"/><Relationship Id="rId7" Target="../media/image16.png" Type="http://schemas.openxmlformats.org/officeDocument/2006/relationships/image"/><Relationship Id="rId8" Target="../media/image17.svg" Type="http://schemas.openxmlformats.org/officeDocument/2006/relationships/image"/><Relationship Id="rId9" Target="../media/image2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1.png" Type="http://schemas.openxmlformats.org/officeDocument/2006/relationships/image"/><Relationship Id="rId11" Target="../media/image32.svg" Type="http://schemas.openxmlformats.org/officeDocument/2006/relationships/image"/><Relationship Id="rId12" Target="../media/image33.png" Type="http://schemas.openxmlformats.org/officeDocument/2006/relationships/image"/><Relationship Id="rId13" Target="../media/image34.svg" Type="http://schemas.openxmlformats.org/officeDocument/2006/relationships/image"/><Relationship Id="rId14" Target="../media/image35.png" Type="http://schemas.openxmlformats.org/officeDocument/2006/relationships/image"/><Relationship Id="rId15" Target="../media/image36.svg" Type="http://schemas.openxmlformats.org/officeDocument/2006/relationships/image"/><Relationship Id="rId16" Target="../media/image37.png" Type="http://schemas.openxmlformats.org/officeDocument/2006/relationships/image"/><Relationship Id="rId17" Target="../media/image38.svg" Type="http://schemas.openxmlformats.org/officeDocument/2006/relationships/image"/><Relationship Id="rId18" Target="../media/image39.png" Type="http://schemas.openxmlformats.org/officeDocument/2006/relationships/image"/><Relationship Id="rId19" Target="../media/image40.svg" Type="http://schemas.openxmlformats.org/officeDocument/2006/relationships/image"/><Relationship Id="rId2" Target="../media/image1.png" Type="http://schemas.openxmlformats.org/officeDocument/2006/relationships/image"/><Relationship Id="rId20" Target="../media/image4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8.png" Type="http://schemas.openxmlformats.org/officeDocument/2006/relationships/image"/><Relationship Id="rId7" Target="../media/image19.svg" Type="http://schemas.openxmlformats.org/officeDocument/2006/relationships/image"/><Relationship Id="rId8" Target="../media/image29.png" Type="http://schemas.openxmlformats.org/officeDocument/2006/relationships/image"/><Relationship Id="rId9" Target="../media/image30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7.png" Type="http://schemas.openxmlformats.org/officeDocument/2006/relationships/image"/><Relationship Id="rId7" Target="../media/image18.png" Type="http://schemas.openxmlformats.org/officeDocument/2006/relationships/image"/><Relationship Id="rId8" Target="../media/image19.svg" Type="http://schemas.openxmlformats.org/officeDocument/2006/relationships/image"/><Relationship Id="rId9" Target="../media/image4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7.png" Type="http://schemas.openxmlformats.org/officeDocument/2006/relationships/image"/><Relationship Id="rId7" Target="../media/image18.png" Type="http://schemas.openxmlformats.org/officeDocument/2006/relationships/image"/><Relationship Id="rId8" Target="../media/image19.svg" Type="http://schemas.openxmlformats.org/officeDocument/2006/relationships/image"/><Relationship Id="rId9" Target="../media/image4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7.png" Type="http://schemas.openxmlformats.org/officeDocument/2006/relationships/image"/><Relationship Id="rId7" Target="../media/image18.png" Type="http://schemas.openxmlformats.org/officeDocument/2006/relationships/image"/><Relationship Id="rId8" Target="../media/image19.svg" Type="http://schemas.openxmlformats.org/officeDocument/2006/relationships/image"/><Relationship Id="rId9" Target="../media/image4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7.png" Type="http://schemas.openxmlformats.org/officeDocument/2006/relationships/image"/><Relationship Id="rId7" Target="../media/image18.png" Type="http://schemas.openxmlformats.org/officeDocument/2006/relationships/image"/><Relationship Id="rId8" Target="../media/image19.svg" Type="http://schemas.openxmlformats.org/officeDocument/2006/relationships/image"/><Relationship Id="rId9" Target="../media/image45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7.png" Type="http://schemas.openxmlformats.org/officeDocument/2006/relationships/image"/><Relationship Id="rId7" Target="../media/image18.png" Type="http://schemas.openxmlformats.org/officeDocument/2006/relationships/image"/><Relationship Id="rId8" Target="../media/image19.svg" Type="http://schemas.openxmlformats.org/officeDocument/2006/relationships/image"/><Relationship Id="rId9" Target="../media/image46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7.png" Type="http://schemas.openxmlformats.org/officeDocument/2006/relationships/image"/><Relationship Id="rId7" Target="../media/image18.png" Type="http://schemas.openxmlformats.org/officeDocument/2006/relationships/image"/><Relationship Id="rId8" Target="../media/image19.svg" Type="http://schemas.openxmlformats.org/officeDocument/2006/relationships/image"/><Relationship Id="rId9" Target="../media/image47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9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7.png" Type="http://schemas.openxmlformats.org/officeDocument/2006/relationships/image"/><Relationship Id="rId7" Target="../media/image18.png" Type="http://schemas.openxmlformats.org/officeDocument/2006/relationships/image"/><Relationship Id="rId8" Target="../media/image19.svg" Type="http://schemas.openxmlformats.org/officeDocument/2006/relationships/image"/><Relationship Id="rId9" Target="../media/image48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7.png" Type="http://schemas.openxmlformats.org/officeDocument/2006/relationships/image"/><Relationship Id="rId7" Target="../media/image18.png" Type="http://schemas.openxmlformats.org/officeDocument/2006/relationships/image"/><Relationship Id="rId8" Target="../media/image19.svg" Type="http://schemas.openxmlformats.org/officeDocument/2006/relationships/image"/><Relationship Id="rId9" Target="../media/image50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7.png" Type="http://schemas.openxmlformats.org/officeDocument/2006/relationships/image"/><Relationship Id="rId7" Target="../media/image18.png" Type="http://schemas.openxmlformats.org/officeDocument/2006/relationships/image"/><Relationship Id="rId8" Target="../media/image19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7.png" Type="http://schemas.openxmlformats.org/officeDocument/2006/relationships/image"/><Relationship Id="rId7" Target="../media/image18.png" Type="http://schemas.openxmlformats.org/officeDocument/2006/relationships/image"/><Relationship Id="rId8" Target="../media/image19.svg" Type="http://schemas.openxmlformats.org/officeDocument/2006/relationships/image"/><Relationship Id="rId9" Target="../media/image51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embeddings/oleObject1.bin" Type="http://schemas.openxmlformats.org/officeDocument/2006/relationships/oleObjec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7.png" Type="http://schemas.openxmlformats.org/officeDocument/2006/relationships/image"/><Relationship Id="rId7" Target="../media/image18.png" Type="http://schemas.openxmlformats.org/officeDocument/2006/relationships/image"/><Relationship Id="rId8" Target="../media/image19.svg" Type="http://schemas.openxmlformats.org/officeDocument/2006/relationships/image"/><Relationship Id="rId9" Target="../media/image52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embeddings/oleObject2.bin" Type="http://schemas.openxmlformats.org/officeDocument/2006/relationships/oleObjec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7.png" Type="http://schemas.openxmlformats.org/officeDocument/2006/relationships/image"/><Relationship Id="rId7" Target="../media/image18.png" Type="http://schemas.openxmlformats.org/officeDocument/2006/relationships/image"/><Relationship Id="rId8" Target="../media/image19.svg" Type="http://schemas.openxmlformats.org/officeDocument/2006/relationships/image"/><Relationship Id="rId9" Target="../media/image53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embeddings/oleObject3.bin" Type="http://schemas.openxmlformats.org/officeDocument/2006/relationships/oleObjec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7.png" Type="http://schemas.openxmlformats.org/officeDocument/2006/relationships/image"/><Relationship Id="rId7" Target="../media/image18.png" Type="http://schemas.openxmlformats.org/officeDocument/2006/relationships/image"/><Relationship Id="rId8" Target="../media/image19.svg" Type="http://schemas.openxmlformats.org/officeDocument/2006/relationships/image"/><Relationship Id="rId9" Target="../media/image54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embeddings/oleObject4.bin" Type="http://schemas.openxmlformats.org/officeDocument/2006/relationships/oleObjec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7.png" Type="http://schemas.openxmlformats.org/officeDocument/2006/relationships/image"/><Relationship Id="rId7" Target="../media/image18.png" Type="http://schemas.openxmlformats.org/officeDocument/2006/relationships/image"/><Relationship Id="rId8" Target="../media/image19.svg" Type="http://schemas.openxmlformats.org/officeDocument/2006/relationships/image"/><Relationship Id="rId9" Target="../media/image55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7.png" Type="http://schemas.openxmlformats.org/officeDocument/2006/relationships/image"/><Relationship Id="rId7" Target="../media/image18.png" Type="http://schemas.openxmlformats.org/officeDocument/2006/relationships/image"/><Relationship Id="rId8" Target="../media/image19.svg" Type="http://schemas.openxmlformats.org/officeDocument/2006/relationships/image"/><Relationship Id="rId9" Target="../media/image56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7.png" Type="http://schemas.openxmlformats.org/officeDocument/2006/relationships/image"/><Relationship Id="rId7" Target="../media/image18.png" Type="http://schemas.openxmlformats.org/officeDocument/2006/relationships/image"/><Relationship Id="rId8" Target="../media/image19.svg" Type="http://schemas.openxmlformats.org/officeDocument/2006/relationships/image"/><Relationship Id="rId9" Target="../media/image57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7.png" Type="http://schemas.openxmlformats.org/officeDocument/2006/relationships/image"/><Relationship Id="rId7" Target="../media/image18.png" Type="http://schemas.openxmlformats.org/officeDocument/2006/relationships/image"/><Relationship Id="rId8" Target="../media/image19.svg" Type="http://schemas.openxmlformats.org/officeDocument/2006/relationships/image"/><Relationship Id="rId9" Target="../media/image58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7.png" Type="http://schemas.openxmlformats.org/officeDocument/2006/relationships/image"/><Relationship Id="rId7" Target="../media/image18.png" Type="http://schemas.openxmlformats.org/officeDocument/2006/relationships/image"/><Relationship Id="rId8" Target="../media/image19.svg" Type="http://schemas.openxmlformats.org/officeDocument/2006/relationships/image"/><Relationship Id="rId9" Target="../media/image59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7.png" Type="http://schemas.openxmlformats.org/officeDocument/2006/relationships/image"/><Relationship Id="rId7" Target="../media/image18.png" Type="http://schemas.openxmlformats.org/officeDocument/2006/relationships/image"/><Relationship Id="rId8" Target="../media/image19.svg" Type="http://schemas.openxmlformats.org/officeDocument/2006/relationships/image"/><Relationship Id="rId9" Target="../media/image60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7.png" Type="http://schemas.openxmlformats.org/officeDocument/2006/relationships/image"/><Relationship Id="rId7" Target="../media/image16.png" Type="http://schemas.openxmlformats.org/officeDocument/2006/relationships/image"/><Relationship Id="rId8" Target="../media/image17.sv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7.png" Type="http://schemas.openxmlformats.org/officeDocument/2006/relationships/image"/><Relationship Id="rId7" Target="../media/image16.png" Type="http://schemas.openxmlformats.org/officeDocument/2006/relationships/image"/><Relationship Id="rId8" Target="../media/image17.sv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2026-sa-tech-docs.vercel.app" TargetMode="External" Type="http://schemas.openxmlformats.org/officeDocument/2006/relationships/hyperlink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7.png" Type="http://schemas.openxmlformats.org/officeDocument/2006/relationships/image"/><Relationship Id="rId7" Target="../media/image16.png" Type="http://schemas.openxmlformats.org/officeDocument/2006/relationships/image"/><Relationship Id="rId8" Target="../media/image17.svg" Type="http://schemas.openxmlformats.org/officeDocument/2006/relationships/image"/><Relationship Id="rId9" Target="../media/image61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7.png" Type="http://schemas.openxmlformats.org/officeDocument/2006/relationships/image"/><Relationship Id="rId7" Target="../media/image16.png" Type="http://schemas.openxmlformats.org/officeDocument/2006/relationships/image"/><Relationship Id="rId8" Target="../media/image17.sv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7.png" Type="http://schemas.openxmlformats.org/officeDocument/2006/relationships/image"/><Relationship Id="rId7" Target="../media/image18.png" Type="http://schemas.openxmlformats.org/officeDocument/2006/relationships/image"/><Relationship Id="rId8" Target="../media/image19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98481" y="-389647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4"/>
                </a:lnTo>
                <a:lnTo>
                  <a:pt x="0" y="110662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-363526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3"/>
                </a:lnTo>
                <a:lnTo>
                  <a:pt x="0" y="110662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-8871820">
            <a:off x="-394818" y="4575348"/>
            <a:ext cx="23125946" cy="15819353"/>
          </a:xfrm>
          <a:custGeom>
            <a:avLst/>
            <a:gdLst/>
            <a:ahLst/>
            <a:cxnLst/>
            <a:rect r="r" b="b" t="t" l="l"/>
            <a:pathLst>
              <a:path h="15819353" w="23125946">
                <a:moveTo>
                  <a:pt x="23125946" y="15819353"/>
                </a:moveTo>
                <a:lnTo>
                  <a:pt x="0" y="15819353"/>
                </a:lnTo>
                <a:lnTo>
                  <a:pt x="0" y="0"/>
                </a:lnTo>
                <a:lnTo>
                  <a:pt x="23125946" y="0"/>
                </a:lnTo>
                <a:lnTo>
                  <a:pt x="23125946" y="1581935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-1451157" y="-1212832"/>
            <a:ext cx="7315200" cy="4043311"/>
          </a:xfrm>
          <a:custGeom>
            <a:avLst/>
            <a:gdLst/>
            <a:ahLst/>
            <a:cxnLst/>
            <a:rect r="r" b="b" t="t" l="l"/>
            <a:pathLst>
              <a:path h="4043311" w="7315200">
                <a:moveTo>
                  <a:pt x="7315200" y="4043310"/>
                </a:moveTo>
                <a:lnTo>
                  <a:pt x="0" y="4043310"/>
                </a:lnTo>
                <a:lnTo>
                  <a:pt x="0" y="0"/>
                </a:lnTo>
                <a:lnTo>
                  <a:pt x="7315200" y="0"/>
                </a:lnTo>
                <a:lnTo>
                  <a:pt x="7315200" y="404331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2320349">
            <a:off x="3678037" y="11091107"/>
            <a:ext cx="20568324" cy="18074414"/>
          </a:xfrm>
          <a:custGeom>
            <a:avLst/>
            <a:gdLst/>
            <a:ahLst/>
            <a:cxnLst/>
            <a:rect r="r" b="b" t="t" l="l"/>
            <a:pathLst>
              <a:path h="18074414" w="20568324">
                <a:moveTo>
                  <a:pt x="20568323" y="18074415"/>
                </a:moveTo>
                <a:lnTo>
                  <a:pt x="0" y="18074415"/>
                </a:lnTo>
                <a:lnTo>
                  <a:pt x="0" y="0"/>
                </a:lnTo>
                <a:lnTo>
                  <a:pt x="20568323" y="0"/>
                </a:lnTo>
                <a:lnTo>
                  <a:pt x="20568323" y="18074415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837041" y="7507468"/>
            <a:ext cx="4246041" cy="4114800"/>
          </a:xfrm>
          <a:custGeom>
            <a:avLst/>
            <a:gdLst/>
            <a:ahLst/>
            <a:cxnLst/>
            <a:rect r="r" b="b" t="t" l="l"/>
            <a:pathLst>
              <a:path h="4114800" w="4246041">
                <a:moveTo>
                  <a:pt x="0" y="0"/>
                </a:moveTo>
                <a:lnTo>
                  <a:pt x="4246041" y="0"/>
                </a:lnTo>
                <a:lnTo>
                  <a:pt x="42460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68775" y="1946322"/>
            <a:ext cx="2923782" cy="2923782"/>
          </a:xfrm>
          <a:custGeom>
            <a:avLst/>
            <a:gdLst/>
            <a:ahLst/>
            <a:cxnLst/>
            <a:rect r="r" b="b" t="t" l="l"/>
            <a:pathLst>
              <a:path h="2923782" w="2923782">
                <a:moveTo>
                  <a:pt x="0" y="0"/>
                </a:moveTo>
                <a:lnTo>
                  <a:pt x="2923782" y="0"/>
                </a:lnTo>
                <a:lnTo>
                  <a:pt x="2923782" y="2923782"/>
                </a:lnTo>
                <a:lnTo>
                  <a:pt x="0" y="292378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666940" y="4772636"/>
            <a:ext cx="2004761" cy="2088292"/>
          </a:xfrm>
          <a:custGeom>
            <a:avLst/>
            <a:gdLst/>
            <a:ahLst/>
            <a:cxnLst/>
            <a:rect r="r" b="b" t="t" l="l"/>
            <a:pathLst>
              <a:path h="2088292" w="2004761">
                <a:moveTo>
                  <a:pt x="0" y="0"/>
                </a:moveTo>
                <a:lnTo>
                  <a:pt x="2004761" y="0"/>
                </a:lnTo>
                <a:lnTo>
                  <a:pt x="2004761" y="2088292"/>
                </a:lnTo>
                <a:lnTo>
                  <a:pt x="0" y="208829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0" id="10"/>
          <p:cNvSpPr txBox="true"/>
          <p:nvPr/>
        </p:nvSpPr>
        <p:spPr>
          <a:xfrm rot="0">
            <a:off x="4859594" y="1993947"/>
            <a:ext cx="8616437" cy="1323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50"/>
              </a:lnSpc>
            </a:pPr>
            <a:r>
              <a:rPr lang="en-US" sz="9000" b="true">
                <a:solidFill>
                  <a:srgbClr val="175520"/>
                </a:solidFill>
                <a:latin typeface="Poppins Bold"/>
                <a:ea typeface="Poppins Bold"/>
                <a:cs typeface="Poppins Bold"/>
                <a:sym typeface="Poppins Bold"/>
              </a:rPr>
              <a:t>NutriAI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938441" y="3946572"/>
            <a:ext cx="10458743" cy="2004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60"/>
              </a:lnSpc>
            </a:pPr>
            <a:r>
              <a:rPr lang="en-US" sz="7200" b="true">
                <a:solidFill>
                  <a:srgbClr val="175520"/>
                </a:solidFill>
                <a:latin typeface="Poppins Bold"/>
                <a:ea typeface="Poppins Bold"/>
                <a:cs typeface="Poppins Bold"/>
                <a:sym typeface="Poppins Bold"/>
              </a:rPr>
              <a:t>Presented By: TechDocs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634666" y="7117080"/>
            <a:ext cx="11091927" cy="1051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60"/>
              </a:lnSpc>
            </a:pPr>
            <a:r>
              <a:rPr lang="en-US" sz="7200" b="true">
                <a:solidFill>
                  <a:srgbClr val="175520"/>
                </a:solidFill>
                <a:latin typeface="Poppins Bold"/>
                <a:ea typeface="Poppins Bold"/>
                <a:cs typeface="Poppins Bold"/>
                <a:sym typeface="Poppins Bold"/>
              </a:rPr>
              <a:t>CS691 Capstone Project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938441" y="302093"/>
            <a:ext cx="11091927" cy="1051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60"/>
              </a:lnSpc>
            </a:pPr>
            <a:r>
              <a:rPr lang="en-US" sz="7200" b="true">
                <a:solidFill>
                  <a:srgbClr val="175520"/>
                </a:solidFill>
                <a:latin typeface="Poppins Bold"/>
                <a:ea typeface="Poppins Bold"/>
                <a:cs typeface="Poppins Bold"/>
                <a:sym typeface="Poppins Bold"/>
              </a:rPr>
              <a:t>SPRINT 2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98481" y="-389647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4"/>
                </a:lnTo>
                <a:lnTo>
                  <a:pt x="0" y="110662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-363526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3"/>
                </a:lnTo>
                <a:lnTo>
                  <a:pt x="0" y="110662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-8871820">
            <a:off x="-3269275" y="-3602232"/>
            <a:ext cx="23125946" cy="15819353"/>
          </a:xfrm>
          <a:custGeom>
            <a:avLst/>
            <a:gdLst/>
            <a:ahLst/>
            <a:cxnLst/>
            <a:rect r="r" b="b" t="t" l="l"/>
            <a:pathLst>
              <a:path h="15819353" w="23125946">
                <a:moveTo>
                  <a:pt x="23125946" y="15819353"/>
                </a:moveTo>
                <a:lnTo>
                  <a:pt x="0" y="15819353"/>
                </a:lnTo>
                <a:lnTo>
                  <a:pt x="0" y="0"/>
                </a:lnTo>
                <a:lnTo>
                  <a:pt x="23125946" y="0"/>
                </a:lnTo>
                <a:lnTo>
                  <a:pt x="23125946" y="1581935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2320349">
            <a:off x="3678037" y="11091107"/>
            <a:ext cx="20568324" cy="18074414"/>
          </a:xfrm>
          <a:custGeom>
            <a:avLst/>
            <a:gdLst/>
            <a:ahLst/>
            <a:cxnLst/>
            <a:rect r="r" b="b" t="t" l="l"/>
            <a:pathLst>
              <a:path h="18074414" w="20568324">
                <a:moveTo>
                  <a:pt x="20568323" y="18074415"/>
                </a:moveTo>
                <a:lnTo>
                  <a:pt x="0" y="18074415"/>
                </a:lnTo>
                <a:lnTo>
                  <a:pt x="0" y="0"/>
                </a:lnTo>
                <a:lnTo>
                  <a:pt x="20568323" y="0"/>
                </a:lnTo>
                <a:lnTo>
                  <a:pt x="20568323" y="18074415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837041" y="7507468"/>
            <a:ext cx="4246041" cy="4114800"/>
          </a:xfrm>
          <a:custGeom>
            <a:avLst/>
            <a:gdLst/>
            <a:ahLst/>
            <a:cxnLst/>
            <a:rect r="r" b="b" t="t" l="l"/>
            <a:pathLst>
              <a:path h="4114800" w="4246041">
                <a:moveTo>
                  <a:pt x="0" y="0"/>
                </a:moveTo>
                <a:lnTo>
                  <a:pt x="4246041" y="0"/>
                </a:lnTo>
                <a:lnTo>
                  <a:pt x="42460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680108" y="2662459"/>
            <a:ext cx="14589472" cy="7910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Project Description</a:t>
            </a:r>
          </a:p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MVP &amp; Core Features</a:t>
            </a:r>
          </a:p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Personas</a:t>
            </a:r>
          </a:p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Diagrams</a:t>
            </a:r>
          </a:p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Algorithms</a:t>
            </a:r>
          </a:p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Sprint 1 Recap</a:t>
            </a:r>
          </a:p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Sprint 2 Backlog</a:t>
            </a:r>
          </a:p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Sprint 3 Planning</a:t>
            </a:r>
          </a:p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Product Backlog</a:t>
            </a:r>
          </a:p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Metrics</a:t>
            </a:r>
          </a:p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Technologies</a:t>
            </a:r>
          </a:p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Retrospective</a:t>
            </a:r>
          </a:p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Working Agreement</a:t>
            </a:r>
          </a:p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Github Link</a:t>
            </a:r>
          </a:p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Demo</a:t>
            </a:r>
          </a:p>
          <a:p>
            <a:pPr algn="ctr">
              <a:lnSpc>
                <a:spcPts val="3920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2068954" y="1778539"/>
            <a:ext cx="13811780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sz="6399" b="true">
                <a:solidFill>
                  <a:srgbClr val="F1F8E9"/>
                </a:solidFill>
                <a:latin typeface="Poppins Bold"/>
                <a:ea typeface="Poppins Bold"/>
                <a:cs typeface="Poppins Bold"/>
                <a:sym typeface="Poppins Bold"/>
              </a:rPr>
              <a:t>AGENDA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98481" y="-389647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4"/>
                </a:lnTo>
                <a:lnTo>
                  <a:pt x="0" y="110662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-363526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3"/>
                </a:lnTo>
                <a:lnTo>
                  <a:pt x="0" y="110662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-8871820">
            <a:off x="-3269275" y="-3602232"/>
            <a:ext cx="23125946" cy="15819353"/>
          </a:xfrm>
          <a:custGeom>
            <a:avLst/>
            <a:gdLst/>
            <a:ahLst/>
            <a:cxnLst/>
            <a:rect r="r" b="b" t="t" l="l"/>
            <a:pathLst>
              <a:path h="15819353" w="23125946">
                <a:moveTo>
                  <a:pt x="23125946" y="15819353"/>
                </a:moveTo>
                <a:lnTo>
                  <a:pt x="0" y="15819353"/>
                </a:lnTo>
                <a:lnTo>
                  <a:pt x="0" y="0"/>
                </a:lnTo>
                <a:lnTo>
                  <a:pt x="23125946" y="0"/>
                </a:lnTo>
                <a:lnTo>
                  <a:pt x="23125946" y="1581935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2320349">
            <a:off x="3678037" y="11091107"/>
            <a:ext cx="20568324" cy="18074414"/>
          </a:xfrm>
          <a:custGeom>
            <a:avLst/>
            <a:gdLst/>
            <a:ahLst/>
            <a:cxnLst/>
            <a:rect r="r" b="b" t="t" l="l"/>
            <a:pathLst>
              <a:path h="18074414" w="20568324">
                <a:moveTo>
                  <a:pt x="20568323" y="18074415"/>
                </a:moveTo>
                <a:lnTo>
                  <a:pt x="0" y="18074415"/>
                </a:lnTo>
                <a:lnTo>
                  <a:pt x="0" y="0"/>
                </a:lnTo>
                <a:lnTo>
                  <a:pt x="20568323" y="0"/>
                </a:lnTo>
                <a:lnTo>
                  <a:pt x="20568323" y="18074415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837041" y="7507468"/>
            <a:ext cx="4246041" cy="4114800"/>
          </a:xfrm>
          <a:custGeom>
            <a:avLst/>
            <a:gdLst/>
            <a:ahLst/>
            <a:cxnLst/>
            <a:rect r="r" b="b" t="t" l="l"/>
            <a:pathLst>
              <a:path h="4114800" w="4246041">
                <a:moveTo>
                  <a:pt x="0" y="0"/>
                </a:moveTo>
                <a:lnTo>
                  <a:pt x="4246041" y="0"/>
                </a:lnTo>
                <a:lnTo>
                  <a:pt x="42460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043110" y="3974387"/>
            <a:ext cx="13598379" cy="4427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Alan Tsui - Team Lead/Full Stack Developer</a:t>
            </a:r>
          </a:p>
          <a:p>
            <a:pPr algn="ctr">
              <a:lnSpc>
                <a:spcPts val="5880"/>
              </a:lnSpc>
            </a:pPr>
            <a:r>
              <a:rPr lang="en-US" sz="42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Angel Flores - AI/Backend Developer</a:t>
            </a:r>
          </a:p>
          <a:p>
            <a:pPr algn="ctr">
              <a:lnSpc>
                <a:spcPts val="5880"/>
              </a:lnSpc>
            </a:pPr>
            <a:r>
              <a:rPr lang="en-US" sz="42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Erin Sorbella - Front End Developer</a:t>
            </a:r>
          </a:p>
          <a:p>
            <a:pPr algn="ctr">
              <a:lnSpc>
                <a:spcPts val="5880"/>
              </a:lnSpc>
            </a:pPr>
            <a:r>
              <a:rPr lang="en-US" sz="42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James Ambenge - Full-Stack Developer</a:t>
            </a:r>
          </a:p>
          <a:p>
            <a:pPr algn="ctr">
              <a:lnSpc>
                <a:spcPts val="5880"/>
              </a:lnSpc>
            </a:pPr>
            <a:r>
              <a:rPr lang="en-US" sz="42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Qui Neubauer - Full-Stack Developer</a:t>
            </a:r>
          </a:p>
          <a:p>
            <a:pPr algn="ctr">
              <a:lnSpc>
                <a:spcPts val="5880"/>
              </a:lnSpc>
            </a:pPr>
            <a:r>
              <a:rPr lang="en-US" sz="42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Saba Alam - Project Manager/Tester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68954" y="2329226"/>
            <a:ext cx="13811780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sz="6399" b="true">
                <a:solidFill>
                  <a:srgbClr val="F1F8E9"/>
                </a:solidFill>
                <a:latin typeface="Poppins Bold"/>
                <a:ea typeface="Poppins Bold"/>
                <a:cs typeface="Poppins Bold"/>
                <a:sym typeface="Poppins Bold"/>
              </a:rPr>
              <a:t>Team Members &amp; Roles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98481" y="-389647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4"/>
                </a:lnTo>
                <a:lnTo>
                  <a:pt x="0" y="110662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-363526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3"/>
                </a:lnTo>
                <a:lnTo>
                  <a:pt x="0" y="110662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9190535">
            <a:off x="-1980178" y="-3645831"/>
            <a:ext cx="23857792" cy="16319974"/>
          </a:xfrm>
          <a:custGeom>
            <a:avLst/>
            <a:gdLst/>
            <a:ahLst/>
            <a:cxnLst/>
            <a:rect r="r" b="b" t="t" l="l"/>
            <a:pathLst>
              <a:path h="16319974" w="23857792">
                <a:moveTo>
                  <a:pt x="0" y="16319974"/>
                </a:moveTo>
                <a:lnTo>
                  <a:pt x="23857792" y="16319974"/>
                </a:lnTo>
                <a:lnTo>
                  <a:pt x="23857792" y="0"/>
                </a:lnTo>
                <a:lnTo>
                  <a:pt x="0" y="0"/>
                </a:lnTo>
                <a:lnTo>
                  <a:pt x="0" y="163199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2320349">
            <a:off x="3678037" y="11091107"/>
            <a:ext cx="20568324" cy="18074414"/>
          </a:xfrm>
          <a:custGeom>
            <a:avLst/>
            <a:gdLst/>
            <a:ahLst/>
            <a:cxnLst/>
            <a:rect r="r" b="b" t="t" l="l"/>
            <a:pathLst>
              <a:path h="18074414" w="20568324">
                <a:moveTo>
                  <a:pt x="20568323" y="18074415"/>
                </a:moveTo>
                <a:lnTo>
                  <a:pt x="0" y="18074415"/>
                </a:lnTo>
                <a:lnTo>
                  <a:pt x="0" y="0"/>
                </a:lnTo>
                <a:lnTo>
                  <a:pt x="20568323" y="0"/>
                </a:lnTo>
                <a:lnTo>
                  <a:pt x="20568323" y="18074415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562446" y="7724645"/>
            <a:ext cx="1393708" cy="2267869"/>
          </a:xfrm>
          <a:custGeom>
            <a:avLst/>
            <a:gdLst/>
            <a:ahLst/>
            <a:cxnLst/>
            <a:rect r="r" b="b" t="t" l="l"/>
            <a:pathLst>
              <a:path h="2267869" w="1393708">
                <a:moveTo>
                  <a:pt x="0" y="0"/>
                </a:moveTo>
                <a:lnTo>
                  <a:pt x="1393708" y="0"/>
                </a:lnTo>
                <a:lnTo>
                  <a:pt x="1393708" y="2267869"/>
                </a:lnTo>
                <a:lnTo>
                  <a:pt x="0" y="226786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805595">
            <a:off x="15532598" y="1305607"/>
            <a:ext cx="1516376" cy="1990087"/>
          </a:xfrm>
          <a:custGeom>
            <a:avLst/>
            <a:gdLst/>
            <a:ahLst/>
            <a:cxnLst/>
            <a:rect r="r" b="b" t="t" l="l"/>
            <a:pathLst>
              <a:path h="1990087" w="1516376">
                <a:moveTo>
                  <a:pt x="0" y="0"/>
                </a:moveTo>
                <a:lnTo>
                  <a:pt x="1516376" y="0"/>
                </a:lnTo>
                <a:lnTo>
                  <a:pt x="1516376" y="1990087"/>
                </a:lnTo>
                <a:lnTo>
                  <a:pt x="0" y="199008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605167" y="3349298"/>
            <a:ext cx="14957279" cy="5257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4999" b="true">
                <a:solidFill>
                  <a:srgbClr val="F1F8E9"/>
                </a:solidFill>
                <a:latin typeface="Nunito Bold"/>
                <a:ea typeface="Nunito Bold"/>
                <a:cs typeface="Nunito Bold"/>
                <a:sym typeface="Nunito Bold"/>
              </a:rPr>
              <a:t>NutriAI</a:t>
            </a: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4620"/>
              </a:lnSpc>
            </a:pPr>
            <a:r>
              <a:rPr lang="en-US" sz="33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This behavior-based app creates a nutrition plan based on your diet, energy, habits, and overall lifestyle. The main focus of this app is to make you healthier, feel more energetic, and reach or maintain a target weight. </a:t>
            </a:r>
            <a:r>
              <a:rPr lang="en-US" sz="33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You can login daily and track your food, energy, and cravings. </a:t>
            </a:r>
          </a:p>
          <a:p>
            <a:pPr algn="l">
              <a:lnSpc>
                <a:spcPts val="4620"/>
              </a:lnSpc>
            </a:pPr>
          </a:p>
          <a:p>
            <a:pPr algn="ctr">
              <a:lnSpc>
                <a:spcPts val="4620"/>
              </a:lnSpc>
            </a:pPr>
            <a:r>
              <a:rPr lang="en-US" sz="33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The plan will adjust to </a:t>
            </a:r>
            <a:r>
              <a:rPr lang="en-US" sz="3300" b="true">
                <a:solidFill>
                  <a:srgbClr val="F1F8E9"/>
                </a:solidFill>
                <a:latin typeface="Nunito Bold"/>
                <a:ea typeface="Nunito Bold"/>
                <a:cs typeface="Nunito Bold"/>
                <a:sym typeface="Nunito Bold"/>
              </a:rPr>
              <a:t>your </a:t>
            </a:r>
            <a:r>
              <a:rPr lang="en-US" sz="33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daily needs.</a:t>
            </a:r>
          </a:p>
          <a:p>
            <a:pPr algn="l">
              <a:lnSpc>
                <a:spcPts val="4620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2068954" y="2329226"/>
            <a:ext cx="11406622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6399" b="true">
                <a:solidFill>
                  <a:srgbClr val="F1F8E9"/>
                </a:solidFill>
                <a:latin typeface="Poppins Bold"/>
                <a:ea typeface="Poppins Bold"/>
                <a:cs typeface="Poppins Bold"/>
                <a:sym typeface="Poppins Bold"/>
              </a:rPr>
              <a:t>Project Description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98481" y="-389647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4"/>
                </a:lnTo>
                <a:lnTo>
                  <a:pt x="0" y="110662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-363526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3"/>
                </a:lnTo>
                <a:lnTo>
                  <a:pt x="0" y="110662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9190535">
            <a:off x="-1980178" y="-3645831"/>
            <a:ext cx="23857792" cy="16319974"/>
          </a:xfrm>
          <a:custGeom>
            <a:avLst/>
            <a:gdLst/>
            <a:ahLst/>
            <a:cxnLst/>
            <a:rect r="r" b="b" t="t" l="l"/>
            <a:pathLst>
              <a:path h="16319974" w="23857792">
                <a:moveTo>
                  <a:pt x="0" y="16319974"/>
                </a:moveTo>
                <a:lnTo>
                  <a:pt x="23857792" y="16319974"/>
                </a:lnTo>
                <a:lnTo>
                  <a:pt x="23857792" y="0"/>
                </a:lnTo>
                <a:lnTo>
                  <a:pt x="0" y="0"/>
                </a:lnTo>
                <a:lnTo>
                  <a:pt x="0" y="163199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2320349">
            <a:off x="3678037" y="11091107"/>
            <a:ext cx="20568324" cy="18074414"/>
          </a:xfrm>
          <a:custGeom>
            <a:avLst/>
            <a:gdLst/>
            <a:ahLst/>
            <a:cxnLst/>
            <a:rect r="r" b="b" t="t" l="l"/>
            <a:pathLst>
              <a:path h="18074414" w="20568324">
                <a:moveTo>
                  <a:pt x="20568323" y="18074415"/>
                </a:moveTo>
                <a:lnTo>
                  <a:pt x="0" y="18074415"/>
                </a:lnTo>
                <a:lnTo>
                  <a:pt x="0" y="0"/>
                </a:lnTo>
                <a:lnTo>
                  <a:pt x="20568323" y="0"/>
                </a:lnTo>
                <a:lnTo>
                  <a:pt x="20568323" y="18074415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562446" y="7724645"/>
            <a:ext cx="1393708" cy="2267869"/>
          </a:xfrm>
          <a:custGeom>
            <a:avLst/>
            <a:gdLst/>
            <a:ahLst/>
            <a:cxnLst/>
            <a:rect r="r" b="b" t="t" l="l"/>
            <a:pathLst>
              <a:path h="2267869" w="1393708">
                <a:moveTo>
                  <a:pt x="0" y="0"/>
                </a:moveTo>
                <a:lnTo>
                  <a:pt x="1393708" y="0"/>
                </a:lnTo>
                <a:lnTo>
                  <a:pt x="1393708" y="2267869"/>
                </a:lnTo>
                <a:lnTo>
                  <a:pt x="0" y="226786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99044" y="3720012"/>
            <a:ext cx="14728667" cy="5848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F1F8E9"/>
                </a:solidFill>
                <a:latin typeface="Nunito Bold"/>
                <a:ea typeface="Nunito Bold"/>
                <a:cs typeface="Nunito Bold"/>
                <a:sym typeface="Nunito Bold"/>
              </a:rPr>
              <a:t>Smart Plan Generator:</a:t>
            </a:r>
            <a:r>
              <a:rPr lang="en-US" sz="30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 Generates a personalized daily calorie and macro target.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F1F8E9"/>
                </a:solidFill>
                <a:latin typeface="Nunito Bold"/>
                <a:ea typeface="Nunito Bold"/>
                <a:cs typeface="Nunito Bold"/>
                <a:sym typeface="Nunito Bold"/>
              </a:rPr>
              <a:t>“I’m Hungry” Button:</a:t>
            </a:r>
            <a:r>
              <a:rPr lang="en-US" sz="30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 Provides recommendations based on time since last meal and calorie intake.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F1F8E9"/>
                </a:solidFill>
                <a:latin typeface="Nunito Bold"/>
                <a:ea typeface="Nunito Bold"/>
                <a:cs typeface="Nunito Bold"/>
                <a:sym typeface="Nunito Bold"/>
              </a:rPr>
              <a:t>“I’m Craving” Button:</a:t>
            </a:r>
            <a:r>
              <a:rPr lang="en-US" sz="30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 Allows users to select craving type and receive a simple intervention.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F1F8E9"/>
                </a:solidFill>
                <a:latin typeface="Nunito Bold"/>
                <a:ea typeface="Nunito Bold"/>
                <a:cs typeface="Nunito Bold"/>
                <a:sym typeface="Nunito Bold"/>
              </a:rPr>
              <a:t>Basic Metrics Dashboard:</a:t>
            </a:r>
            <a:r>
              <a:rPr lang="en-US" sz="30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 Shows weight trend, calorie progress, and appetite score.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F1F8E9"/>
                </a:solidFill>
                <a:latin typeface="Nunito Bold"/>
                <a:ea typeface="Nunito Bold"/>
                <a:cs typeface="Nunito Bold"/>
                <a:sym typeface="Nunito Bold"/>
              </a:rPr>
              <a:t>Recipe Recommender: </a:t>
            </a:r>
            <a:r>
              <a:rPr lang="en-US" sz="30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Recommends a meal with ingredients and recipe instructions when hungry or craving.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b="true" sz="3000">
                <a:solidFill>
                  <a:srgbClr val="F1F8E9"/>
                </a:solidFill>
                <a:latin typeface="Nunito Bold"/>
                <a:ea typeface="Nunito Bold"/>
                <a:cs typeface="Nunito Bold"/>
                <a:sym typeface="Nunito Bold"/>
              </a:rPr>
              <a:t>User Login &amp; Profile Setup:</a:t>
            </a:r>
            <a:r>
              <a:rPr lang="en-US" sz="30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 Basic account creation with weight, height, goal weight, and lifestyle inputs.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2862543" y="1793784"/>
            <a:ext cx="2199311" cy="1983378"/>
          </a:xfrm>
          <a:custGeom>
            <a:avLst/>
            <a:gdLst/>
            <a:ahLst/>
            <a:cxnLst/>
            <a:rect r="r" b="b" t="t" l="l"/>
            <a:pathLst>
              <a:path h="1983378" w="2199311">
                <a:moveTo>
                  <a:pt x="0" y="0"/>
                </a:moveTo>
                <a:lnTo>
                  <a:pt x="2199311" y="0"/>
                </a:lnTo>
                <a:lnTo>
                  <a:pt x="2199311" y="1983378"/>
                </a:lnTo>
                <a:lnTo>
                  <a:pt x="0" y="198337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427712" y="3270296"/>
            <a:ext cx="1831588" cy="2030995"/>
          </a:xfrm>
          <a:custGeom>
            <a:avLst/>
            <a:gdLst/>
            <a:ahLst/>
            <a:cxnLst/>
            <a:rect r="r" b="b" t="t" l="l"/>
            <a:pathLst>
              <a:path h="2030995" w="1831588">
                <a:moveTo>
                  <a:pt x="0" y="0"/>
                </a:moveTo>
                <a:lnTo>
                  <a:pt x="1831588" y="0"/>
                </a:lnTo>
                <a:lnTo>
                  <a:pt x="1831588" y="2030995"/>
                </a:lnTo>
                <a:lnTo>
                  <a:pt x="0" y="203099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068954" y="2329226"/>
            <a:ext cx="11406622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6399" b="true">
                <a:solidFill>
                  <a:srgbClr val="F1F8E9"/>
                </a:solidFill>
                <a:latin typeface="Poppins Bold"/>
                <a:ea typeface="Poppins Bold"/>
                <a:cs typeface="Poppins Bold"/>
                <a:sym typeface="Poppins Bold"/>
              </a:rPr>
              <a:t>MVP/Core Features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98481" y="-389647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4"/>
                </a:lnTo>
                <a:lnTo>
                  <a:pt x="0" y="110662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-363526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3"/>
                </a:lnTo>
                <a:lnTo>
                  <a:pt x="0" y="110662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-8871820">
            <a:off x="-3269275" y="-3602232"/>
            <a:ext cx="23125946" cy="15819353"/>
          </a:xfrm>
          <a:custGeom>
            <a:avLst/>
            <a:gdLst/>
            <a:ahLst/>
            <a:cxnLst/>
            <a:rect r="r" b="b" t="t" l="l"/>
            <a:pathLst>
              <a:path h="15819353" w="23125946">
                <a:moveTo>
                  <a:pt x="23125946" y="15819353"/>
                </a:moveTo>
                <a:lnTo>
                  <a:pt x="0" y="15819353"/>
                </a:lnTo>
                <a:lnTo>
                  <a:pt x="0" y="0"/>
                </a:lnTo>
                <a:lnTo>
                  <a:pt x="23125946" y="0"/>
                </a:lnTo>
                <a:lnTo>
                  <a:pt x="23125946" y="1581935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2320349">
            <a:off x="3678037" y="11091107"/>
            <a:ext cx="20568324" cy="18074414"/>
          </a:xfrm>
          <a:custGeom>
            <a:avLst/>
            <a:gdLst/>
            <a:ahLst/>
            <a:cxnLst/>
            <a:rect r="r" b="b" t="t" l="l"/>
            <a:pathLst>
              <a:path h="18074414" w="20568324">
                <a:moveTo>
                  <a:pt x="20568323" y="18074415"/>
                </a:moveTo>
                <a:lnTo>
                  <a:pt x="0" y="18074415"/>
                </a:lnTo>
                <a:lnTo>
                  <a:pt x="0" y="0"/>
                </a:lnTo>
                <a:lnTo>
                  <a:pt x="20568323" y="0"/>
                </a:lnTo>
                <a:lnTo>
                  <a:pt x="20568323" y="18074415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837041" y="7507468"/>
            <a:ext cx="4246041" cy="4114800"/>
          </a:xfrm>
          <a:custGeom>
            <a:avLst/>
            <a:gdLst/>
            <a:ahLst/>
            <a:cxnLst/>
            <a:rect r="r" b="b" t="t" l="l"/>
            <a:pathLst>
              <a:path h="4114800" w="4246041">
                <a:moveTo>
                  <a:pt x="0" y="0"/>
                </a:moveTo>
                <a:lnTo>
                  <a:pt x="4246041" y="0"/>
                </a:lnTo>
                <a:lnTo>
                  <a:pt x="42460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532879" y="3989070"/>
            <a:ext cx="6452239" cy="4301493"/>
          </a:xfrm>
          <a:custGeom>
            <a:avLst/>
            <a:gdLst/>
            <a:ahLst/>
            <a:cxnLst/>
            <a:rect r="r" b="b" t="t" l="l"/>
            <a:pathLst>
              <a:path h="4301493" w="6452239">
                <a:moveTo>
                  <a:pt x="0" y="0"/>
                </a:moveTo>
                <a:lnTo>
                  <a:pt x="6452239" y="0"/>
                </a:lnTo>
                <a:lnTo>
                  <a:pt x="6452239" y="4301493"/>
                </a:lnTo>
                <a:lnTo>
                  <a:pt x="0" y="430149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068954" y="2329226"/>
            <a:ext cx="14025811" cy="2636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6399" b="true">
                <a:solidFill>
                  <a:srgbClr val="F1F8E9"/>
                </a:solidFill>
                <a:latin typeface="Poppins Bold"/>
                <a:ea typeface="Poppins Bold"/>
                <a:cs typeface="Poppins Bold"/>
                <a:sym typeface="Poppins Bold"/>
              </a:rPr>
              <a:t>THE HEALTH OPTIMIZER </a:t>
            </a:r>
          </a:p>
          <a:p>
            <a:pPr algn="l">
              <a:lnSpc>
                <a:spcPts val="6719"/>
              </a:lnSpc>
            </a:pPr>
            <a:r>
              <a:rPr lang="en-US" sz="6399" b="true">
                <a:solidFill>
                  <a:srgbClr val="F1F8E9"/>
                </a:solidFill>
                <a:latin typeface="Poppins Bold"/>
                <a:ea typeface="Poppins Bold"/>
                <a:cs typeface="Poppins Bold"/>
                <a:sym typeface="Poppins Bold"/>
              </a:rPr>
              <a:t>PERSONA</a:t>
            </a:r>
          </a:p>
          <a:p>
            <a:pPr algn="l">
              <a:lnSpc>
                <a:spcPts val="671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2805374" y="4071621"/>
            <a:ext cx="7331130" cy="4603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04" indent="-313052" lvl="1">
              <a:lnSpc>
                <a:spcPts val="4059"/>
              </a:lnSpc>
              <a:buFont typeface="Arial"/>
              <a:buChar char="•"/>
            </a:pPr>
            <a:r>
              <a:rPr lang="en-US" b="true" sz="2899">
                <a:solidFill>
                  <a:srgbClr val="F1F8E9"/>
                </a:solidFill>
                <a:latin typeface="Nunito Bold"/>
                <a:ea typeface="Nunito Bold"/>
                <a:cs typeface="Nunito Bold"/>
                <a:sym typeface="Nunito Bold"/>
              </a:rPr>
              <a:t>Age: </a:t>
            </a:r>
            <a:r>
              <a:rPr lang="en-US" sz="2899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26</a:t>
            </a:r>
          </a:p>
          <a:p>
            <a:pPr algn="l" marL="626104" indent="-313052" lvl="1">
              <a:lnSpc>
                <a:spcPts val="4059"/>
              </a:lnSpc>
              <a:buFont typeface="Arial"/>
              <a:buChar char="•"/>
            </a:pPr>
            <a:r>
              <a:rPr lang="en-US" b="true" sz="2899">
                <a:solidFill>
                  <a:srgbClr val="F1F8E9"/>
                </a:solidFill>
                <a:latin typeface="Nunito Bold"/>
                <a:ea typeface="Nunito Bold"/>
                <a:cs typeface="Nunito Bold"/>
                <a:sym typeface="Nunito Bold"/>
              </a:rPr>
              <a:t>Occupation: </a:t>
            </a:r>
            <a:r>
              <a:rPr lang="en-US" sz="2899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IT Professional</a:t>
            </a:r>
          </a:p>
          <a:p>
            <a:pPr algn="l" marL="626104" indent="-313052" lvl="1">
              <a:lnSpc>
                <a:spcPts val="4059"/>
              </a:lnSpc>
              <a:buFont typeface="Arial"/>
              <a:buChar char="•"/>
            </a:pPr>
            <a:r>
              <a:rPr lang="en-US" b="true" sz="2899">
                <a:solidFill>
                  <a:srgbClr val="F1F8E9"/>
                </a:solidFill>
                <a:latin typeface="Nunito Bold"/>
                <a:ea typeface="Nunito Bold"/>
                <a:cs typeface="Nunito Bold"/>
                <a:sym typeface="Nunito Bold"/>
              </a:rPr>
              <a:t>Fitness Level: </a:t>
            </a:r>
            <a:r>
              <a:rPr lang="en-US" sz="2899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Moderate</a:t>
            </a:r>
          </a:p>
          <a:p>
            <a:pPr algn="l" marL="626104" indent="-313052" lvl="1">
              <a:lnSpc>
                <a:spcPts val="4059"/>
              </a:lnSpc>
              <a:buFont typeface="Arial"/>
              <a:buChar char="•"/>
            </a:pPr>
            <a:r>
              <a:rPr lang="en-US" b="true" sz="2899">
                <a:solidFill>
                  <a:srgbClr val="F1F8E9"/>
                </a:solidFill>
                <a:latin typeface="Nunito Bold"/>
                <a:ea typeface="Nunito Bold"/>
                <a:cs typeface="Nunito Bold"/>
                <a:sym typeface="Nunito Bold"/>
              </a:rPr>
              <a:t>Technology Comfort:</a:t>
            </a:r>
            <a:r>
              <a:rPr lang="en-US" sz="2899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 High</a:t>
            </a:r>
          </a:p>
          <a:p>
            <a:pPr algn="l">
              <a:lnSpc>
                <a:spcPts val="4059"/>
              </a:lnSpc>
            </a:pPr>
            <a:r>
              <a:rPr lang="en-US" sz="2899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Eric is a former athlete now adapting to a sedentary job. As someone in tech himself, he’s curious in seeing how far an app can be used to assist with nutritional and fitness needs.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98481" y="-389647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4"/>
                </a:lnTo>
                <a:lnTo>
                  <a:pt x="0" y="110662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-363526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3"/>
                </a:lnTo>
                <a:lnTo>
                  <a:pt x="0" y="110662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-8871820">
            <a:off x="-3269275" y="-3602232"/>
            <a:ext cx="23125946" cy="15819353"/>
          </a:xfrm>
          <a:custGeom>
            <a:avLst/>
            <a:gdLst/>
            <a:ahLst/>
            <a:cxnLst/>
            <a:rect r="r" b="b" t="t" l="l"/>
            <a:pathLst>
              <a:path h="15819353" w="23125946">
                <a:moveTo>
                  <a:pt x="23125946" y="15819353"/>
                </a:moveTo>
                <a:lnTo>
                  <a:pt x="0" y="15819353"/>
                </a:lnTo>
                <a:lnTo>
                  <a:pt x="0" y="0"/>
                </a:lnTo>
                <a:lnTo>
                  <a:pt x="23125946" y="0"/>
                </a:lnTo>
                <a:lnTo>
                  <a:pt x="23125946" y="1581935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2320349">
            <a:off x="3678037" y="11091107"/>
            <a:ext cx="20568324" cy="18074414"/>
          </a:xfrm>
          <a:custGeom>
            <a:avLst/>
            <a:gdLst/>
            <a:ahLst/>
            <a:cxnLst/>
            <a:rect r="r" b="b" t="t" l="l"/>
            <a:pathLst>
              <a:path h="18074414" w="20568324">
                <a:moveTo>
                  <a:pt x="20568323" y="18074415"/>
                </a:moveTo>
                <a:lnTo>
                  <a:pt x="0" y="18074415"/>
                </a:lnTo>
                <a:lnTo>
                  <a:pt x="0" y="0"/>
                </a:lnTo>
                <a:lnTo>
                  <a:pt x="20568323" y="0"/>
                </a:lnTo>
                <a:lnTo>
                  <a:pt x="20568323" y="18074415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837041" y="7507468"/>
            <a:ext cx="4246041" cy="4114800"/>
          </a:xfrm>
          <a:custGeom>
            <a:avLst/>
            <a:gdLst/>
            <a:ahLst/>
            <a:cxnLst/>
            <a:rect r="r" b="b" t="t" l="l"/>
            <a:pathLst>
              <a:path h="4114800" w="4246041">
                <a:moveTo>
                  <a:pt x="0" y="0"/>
                </a:moveTo>
                <a:lnTo>
                  <a:pt x="4246041" y="0"/>
                </a:lnTo>
                <a:lnTo>
                  <a:pt x="42460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470892" y="4383646"/>
            <a:ext cx="6788408" cy="4525605"/>
          </a:xfrm>
          <a:custGeom>
            <a:avLst/>
            <a:gdLst/>
            <a:ahLst/>
            <a:cxnLst/>
            <a:rect r="r" b="b" t="t" l="l"/>
            <a:pathLst>
              <a:path h="4525605" w="6788408">
                <a:moveTo>
                  <a:pt x="0" y="0"/>
                </a:moveTo>
                <a:lnTo>
                  <a:pt x="6788408" y="0"/>
                </a:lnTo>
                <a:lnTo>
                  <a:pt x="6788408" y="4525605"/>
                </a:lnTo>
                <a:lnTo>
                  <a:pt x="0" y="452560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068954" y="2329226"/>
            <a:ext cx="13811780" cy="2636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6399" b="true">
                <a:solidFill>
                  <a:srgbClr val="F1F8E9"/>
                </a:solidFill>
                <a:latin typeface="Poppins Bold"/>
                <a:ea typeface="Poppins Bold"/>
                <a:cs typeface="Poppins Bold"/>
                <a:sym typeface="Poppins Bold"/>
              </a:rPr>
              <a:t>THE BUSY PROFESSIONAL</a:t>
            </a:r>
          </a:p>
          <a:p>
            <a:pPr algn="l">
              <a:lnSpc>
                <a:spcPts val="6719"/>
              </a:lnSpc>
            </a:pPr>
            <a:r>
              <a:rPr lang="en-US" sz="6399" b="true">
                <a:solidFill>
                  <a:srgbClr val="F1F8E9"/>
                </a:solidFill>
                <a:latin typeface="Poppins Bold"/>
                <a:ea typeface="Poppins Bold"/>
                <a:cs typeface="Poppins Bold"/>
                <a:sym typeface="Poppins Bold"/>
              </a:rPr>
              <a:t>PERSONA</a:t>
            </a:r>
          </a:p>
          <a:p>
            <a:pPr algn="l">
              <a:lnSpc>
                <a:spcPts val="671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2808361" y="4081385"/>
            <a:ext cx="6335639" cy="4603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17" indent="-313059" lvl="1">
              <a:lnSpc>
                <a:spcPts val="4060"/>
              </a:lnSpc>
              <a:buFont typeface="Arial"/>
              <a:buChar char="•"/>
            </a:pPr>
            <a:r>
              <a:rPr lang="en-US" b="true" sz="2900">
                <a:solidFill>
                  <a:srgbClr val="F1F8E9"/>
                </a:solidFill>
                <a:latin typeface="Nunito Bold"/>
                <a:ea typeface="Nunito Bold"/>
                <a:cs typeface="Nunito Bold"/>
                <a:sym typeface="Nunito Bold"/>
              </a:rPr>
              <a:t>Age:</a:t>
            </a:r>
            <a:r>
              <a:rPr lang="en-US" sz="29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 42</a:t>
            </a:r>
          </a:p>
          <a:p>
            <a:pPr algn="l" marL="626117" indent="-313059" lvl="1">
              <a:lnSpc>
                <a:spcPts val="4060"/>
              </a:lnSpc>
              <a:buFont typeface="Arial"/>
              <a:buChar char="•"/>
            </a:pPr>
            <a:r>
              <a:rPr lang="en-US" b="true" sz="2900">
                <a:solidFill>
                  <a:srgbClr val="F1F8E9"/>
                </a:solidFill>
                <a:latin typeface="Nunito Bold"/>
                <a:ea typeface="Nunito Bold"/>
                <a:cs typeface="Nunito Bold"/>
                <a:sym typeface="Nunito Bold"/>
              </a:rPr>
              <a:t>Occupation: </a:t>
            </a:r>
            <a:r>
              <a:rPr lang="en-US" sz="29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Office Manager</a:t>
            </a:r>
          </a:p>
          <a:p>
            <a:pPr algn="l" marL="626117" indent="-313059" lvl="1">
              <a:lnSpc>
                <a:spcPts val="4060"/>
              </a:lnSpc>
              <a:buFont typeface="Arial"/>
              <a:buChar char="•"/>
            </a:pPr>
            <a:r>
              <a:rPr lang="en-US" b="true" sz="2900">
                <a:solidFill>
                  <a:srgbClr val="F1F8E9"/>
                </a:solidFill>
                <a:latin typeface="Nunito Bold"/>
                <a:ea typeface="Nunito Bold"/>
                <a:cs typeface="Nunito Bold"/>
                <a:sym typeface="Nunito Bold"/>
              </a:rPr>
              <a:t>Fitness Level:</a:t>
            </a:r>
            <a:r>
              <a:rPr lang="en-US" sz="29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 Beginner</a:t>
            </a:r>
          </a:p>
          <a:p>
            <a:pPr algn="l" marL="626117" indent="-313059" lvl="1">
              <a:lnSpc>
                <a:spcPts val="4060"/>
              </a:lnSpc>
              <a:buFont typeface="Arial"/>
              <a:buChar char="•"/>
            </a:pPr>
            <a:r>
              <a:rPr lang="en-US" b="true" sz="2900">
                <a:solidFill>
                  <a:srgbClr val="F1F8E9"/>
                </a:solidFill>
                <a:latin typeface="Nunito Bold"/>
                <a:ea typeface="Nunito Bold"/>
                <a:cs typeface="Nunito Bold"/>
                <a:sym typeface="Nunito Bold"/>
              </a:rPr>
              <a:t>Technology Comfort:</a:t>
            </a:r>
            <a:r>
              <a:rPr lang="en-US" sz="29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 Moderate</a:t>
            </a: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Jessica is dedicated to her work, often eating what is convenient rather than what’s healthy. After receiving advice from her doctor to have a more balanced diet, she looks into NutriAI.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98481" y="-389647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4"/>
                </a:lnTo>
                <a:lnTo>
                  <a:pt x="0" y="110662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-363526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3"/>
                </a:lnTo>
                <a:lnTo>
                  <a:pt x="0" y="110662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-8871820">
            <a:off x="-3269275" y="-3602232"/>
            <a:ext cx="23125946" cy="15819353"/>
          </a:xfrm>
          <a:custGeom>
            <a:avLst/>
            <a:gdLst/>
            <a:ahLst/>
            <a:cxnLst/>
            <a:rect r="r" b="b" t="t" l="l"/>
            <a:pathLst>
              <a:path h="15819353" w="23125946">
                <a:moveTo>
                  <a:pt x="23125946" y="15819353"/>
                </a:moveTo>
                <a:lnTo>
                  <a:pt x="0" y="15819353"/>
                </a:lnTo>
                <a:lnTo>
                  <a:pt x="0" y="0"/>
                </a:lnTo>
                <a:lnTo>
                  <a:pt x="23125946" y="0"/>
                </a:lnTo>
                <a:lnTo>
                  <a:pt x="23125946" y="1581935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2320349">
            <a:off x="3678037" y="11091107"/>
            <a:ext cx="20568324" cy="18074414"/>
          </a:xfrm>
          <a:custGeom>
            <a:avLst/>
            <a:gdLst/>
            <a:ahLst/>
            <a:cxnLst/>
            <a:rect r="r" b="b" t="t" l="l"/>
            <a:pathLst>
              <a:path h="18074414" w="20568324">
                <a:moveTo>
                  <a:pt x="20568323" y="18074415"/>
                </a:moveTo>
                <a:lnTo>
                  <a:pt x="0" y="18074415"/>
                </a:lnTo>
                <a:lnTo>
                  <a:pt x="0" y="0"/>
                </a:lnTo>
                <a:lnTo>
                  <a:pt x="20568323" y="0"/>
                </a:lnTo>
                <a:lnTo>
                  <a:pt x="20568323" y="18074415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837041" y="7507468"/>
            <a:ext cx="4246041" cy="4114800"/>
          </a:xfrm>
          <a:custGeom>
            <a:avLst/>
            <a:gdLst/>
            <a:ahLst/>
            <a:cxnLst/>
            <a:rect r="r" b="b" t="t" l="l"/>
            <a:pathLst>
              <a:path h="4114800" w="4246041">
                <a:moveTo>
                  <a:pt x="0" y="0"/>
                </a:moveTo>
                <a:lnTo>
                  <a:pt x="4246041" y="0"/>
                </a:lnTo>
                <a:lnTo>
                  <a:pt x="42460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567862" y="3994776"/>
            <a:ext cx="7296022" cy="4893803"/>
          </a:xfrm>
          <a:custGeom>
            <a:avLst/>
            <a:gdLst/>
            <a:ahLst/>
            <a:cxnLst/>
            <a:rect r="r" b="b" t="t" l="l"/>
            <a:pathLst>
              <a:path h="4893803" w="7296022">
                <a:moveTo>
                  <a:pt x="0" y="0"/>
                </a:moveTo>
                <a:lnTo>
                  <a:pt x="7296022" y="0"/>
                </a:lnTo>
                <a:lnTo>
                  <a:pt x="7296022" y="4893804"/>
                </a:lnTo>
                <a:lnTo>
                  <a:pt x="0" y="489380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-28001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068954" y="2329226"/>
            <a:ext cx="13811780" cy="2636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6399" b="true">
                <a:solidFill>
                  <a:srgbClr val="F1F8E9"/>
                </a:solidFill>
                <a:latin typeface="Poppins Bold"/>
                <a:ea typeface="Poppins Bold"/>
                <a:cs typeface="Poppins Bold"/>
                <a:sym typeface="Poppins Bold"/>
              </a:rPr>
              <a:t>THE OZEMPIC ALTERNATIVE</a:t>
            </a:r>
          </a:p>
          <a:p>
            <a:pPr algn="l">
              <a:lnSpc>
                <a:spcPts val="6719"/>
              </a:lnSpc>
            </a:pPr>
            <a:r>
              <a:rPr lang="en-US" sz="6399" b="true">
                <a:solidFill>
                  <a:srgbClr val="F1F8E9"/>
                </a:solidFill>
                <a:latin typeface="Poppins Bold"/>
                <a:ea typeface="Poppins Bold"/>
                <a:cs typeface="Poppins Bold"/>
                <a:sym typeface="Poppins Bold"/>
              </a:rPr>
              <a:t>PERSONA</a:t>
            </a:r>
          </a:p>
          <a:p>
            <a:pPr algn="l">
              <a:lnSpc>
                <a:spcPts val="671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2808705" y="4063904"/>
            <a:ext cx="6359452" cy="5117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17" indent="-313059" lvl="1">
              <a:lnSpc>
                <a:spcPts val="4060"/>
              </a:lnSpc>
              <a:buFont typeface="Arial"/>
              <a:buChar char="•"/>
            </a:pPr>
            <a:r>
              <a:rPr lang="en-US" b="true" sz="2900">
                <a:solidFill>
                  <a:srgbClr val="F1F8E9"/>
                </a:solidFill>
                <a:latin typeface="Nunito Bold"/>
                <a:ea typeface="Nunito Bold"/>
                <a:cs typeface="Nunito Bold"/>
                <a:sym typeface="Nunito Bold"/>
              </a:rPr>
              <a:t>Age:</a:t>
            </a:r>
            <a:r>
              <a:rPr lang="en-US" sz="29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 34</a:t>
            </a:r>
          </a:p>
          <a:p>
            <a:pPr algn="l" marL="626117" indent="-313059" lvl="1">
              <a:lnSpc>
                <a:spcPts val="4060"/>
              </a:lnSpc>
              <a:buFont typeface="Arial"/>
              <a:buChar char="•"/>
            </a:pPr>
            <a:r>
              <a:rPr lang="en-US" b="true" sz="2900">
                <a:solidFill>
                  <a:srgbClr val="F1F8E9"/>
                </a:solidFill>
                <a:latin typeface="Nunito Bold"/>
                <a:ea typeface="Nunito Bold"/>
                <a:cs typeface="Nunito Bold"/>
                <a:sym typeface="Nunito Bold"/>
              </a:rPr>
              <a:t>Occupation: </a:t>
            </a:r>
            <a:r>
              <a:rPr lang="en-US" sz="29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University Professor</a:t>
            </a:r>
          </a:p>
          <a:p>
            <a:pPr algn="l" marL="626117" indent="-313059" lvl="1">
              <a:lnSpc>
                <a:spcPts val="4060"/>
              </a:lnSpc>
              <a:buFont typeface="Arial"/>
              <a:buChar char="•"/>
            </a:pPr>
            <a:r>
              <a:rPr lang="en-US" b="true" sz="2900">
                <a:solidFill>
                  <a:srgbClr val="F1F8E9"/>
                </a:solidFill>
                <a:latin typeface="Nunito Bold"/>
                <a:ea typeface="Nunito Bold"/>
                <a:cs typeface="Nunito Bold"/>
                <a:sym typeface="Nunito Bold"/>
              </a:rPr>
              <a:t>Fitness Level: </a:t>
            </a:r>
            <a:r>
              <a:rPr lang="en-US" sz="29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Moderate</a:t>
            </a:r>
          </a:p>
          <a:p>
            <a:pPr algn="l" marL="626117" indent="-313059" lvl="1">
              <a:lnSpc>
                <a:spcPts val="4060"/>
              </a:lnSpc>
              <a:buFont typeface="Arial"/>
              <a:buChar char="•"/>
            </a:pPr>
            <a:r>
              <a:rPr lang="en-US" b="true" sz="2900">
                <a:solidFill>
                  <a:srgbClr val="F1F8E9"/>
                </a:solidFill>
                <a:latin typeface="Nunito Bold"/>
                <a:ea typeface="Nunito Bold"/>
                <a:cs typeface="Nunito Bold"/>
                <a:sym typeface="Nunito Bold"/>
              </a:rPr>
              <a:t>Technology Comfort:</a:t>
            </a:r>
            <a:r>
              <a:rPr lang="en-US" sz="29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 High</a:t>
            </a: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Dylan has recently stopped taking weight loss medication and is looking for help managing his diet and appetite. He’s interested in NutriAI for its “I’m Feeling Hungry” button.</a:t>
            </a:r>
          </a:p>
          <a:p>
            <a:pPr algn="l">
              <a:lnSpc>
                <a:spcPts val="4060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98481" y="-389647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4"/>
                </a:lnTo>
                <a:lnTo>
                  <a:pt x="0" y="110662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-363526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3"/>
                </a:lnTo>
                <a:lnTo>
                  <a:pt x="0" y="110662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9190535">
            <a:off x="-1980178" y="-3605251"/>
            <a:ext cx="23857792" cy="16319974"/>
          </a:xfrm>
          <a:custGeom>
            <a:avLst/>
            <a:gdLst/>
            <a:ahLst/>
            <a:cxnLst/>
            <a:rect r="r" b="b" t="t" l="l"/>
            <a:pathLst>
              <a:path h="16319974" w="23857792">
                <a:moveTo>
                  <a:pt x="0" y="16319974"/>
                </a:moveTo>
                <a:lnTo>
                  <a:pt x="23857792" y="16319974"/>
                </a:lnTo>
                <a:lnTo>
                  <a:pt x="23857792" y="0"/>
                </a:lnTo>
                <a:lnTo>
                  <a:pt x="0" y="0"/>
                </a:lnTo>
                <a:lnTo>
                  <a:pt x="0" y="163199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562446" y="7724645"/>
            <a:ext cx="1393708" cy="2267869"/>
          </a:xfrm>
          <a:custGeom>
            <a:avLst/>
            <a:gdLst/>
            <a:ahLst/>
            <a:cxnLst/>
            <a:rect r="r" b="b" t="t" l="l"/>
            <a:pathLst>
              <a:path h="2267869" w="1393708">
                <a:moveTo>
                  <a:pt x="0" y="0"/>
                </a:moveTo>
                <a:lnTo>
                  <a:pt x="1393708" y="0"/>
                </a:lnTo>
                <a:lnTo>
                  <a:pt x="1393708" y="2267869"/>
                </a:lnTo>
                <a:lnTo>
                  <a:pt x="0" y="226786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241383" y="4938541"/>
            <a:ext cx="2098815" cy="2098815"/>
          </a:xfrm>
          <a:custGeom>
            <a:avLst/>
            <a:gdLst/>
            <a:ahLst/>
            <a:cxnLst/>
            <a:rect r="r" b="b" t="t" l="l"/>
            <a:pathLst>
              <a:path h="2098815" w="2098815">
                <a:moveTo>
                  <a:pt x="0" y="0"/>
                </a:moveTo>
                <a:lnTo>
                  <a:pt x="2098815" y="0"/>
                </a:lnTo>
                <a:lnTo>
                  <a:pt x="2098815" y="2098815"/>
                </a:lnTo>
                <a:lnTo>
                  <a:pt x="0" y="209881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198419" y="4833906"/>
            <a:ext cx="2203450" cy="2203450"/>
          </a:xfrm>
          <a:custGeom>
            <a:avLst/>
            <a:gdLst/>
            <a:ahLst/>
            <a:cxnLst/>
            <a:rect r="r" b="b" t="t" l="l"/>
            <a:pathLst>
              <a:path h="2203450" w="2203450">
                <a:moveTo>
                  <a:pt x="0" y="0"/>
                </a:moveTo>
                <a:lnTo>
                  <a:pt x="2203450" y="0"/>
                </a:lnTo>
                <a:lnTo>
                  <a:pt x="2203450" y="2203450"/>
                </a:lnTo>
                <a:lnTo>
                  <a:pt x="0" y="220345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722843" y="4856769"/>
            <a:ext cx="2262359" cy="2262359"/>
          </a:xfrm>
          <a:custGeom>
            <a:avLst/>
            <a:gdLst/>
            <a:ahLst/>
            <a:cxnLst/>
            <a:rect r="r" b="b" t="t" l="l"/>
            <a:pathLst>
              <a:path h="2262359" w="2262359">
                <a:moveTo>
                  <a:pt x="0" y="0"/>
                </a:moveTo>
                <a:lnTo>
                  <a:pt x="2262359" y="0"/>
                </a:lnTo>
                <a:lnTo>
                  <a:pt x="2262359" y="2262359"/>
                </a:lnTo>
                <a:lnTo>
                  <a:pt x="0" y="226235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039082" y="7300741"/>
            <a:ext cx="2503417" cy="2503417"/>
          </a:xfrm>
          <a:custGeom>
            <a:avLst/>
            <a:gdLst/>
            <a:ahLst/>
            <a:cxnLst/>
            <a:rect r="r" b="b" t="t" l="l"/>
            <a:pathLst>
              <a:path h="2503417" w="2503417">
                <a:moveTo>
                  <a:pt x="0" y="0"/>
                </a:moveTo>
                <a:lnTo>
                  <a:pt x="2503417" y="0"/>
                </a:lnTo>
                <a:lnTo>
                  <a:pt x="2503417" y="2503418"/>
                </a:lnTo>
                <a:lnTo>
                  <a:pt x="0" y="250341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949904" y="7141991"/>
            <a:ext cx="2203450" cy="2203450"/>
          </a:xfrm>
          <a:custGeom>
            <a:avLst/>
            <a:gdLst/>
            <a:ahLst/>
            <a:cxnLst/>
            <a:rect r="r" b="b" t="t" l="l"/>
            <a:pathLst>
              <a:path h="2203450" w="2203450">
                <a:moveTo>
                  <a:pt x="0" y="0"/>
                </a:moveTo>
                <a:lnTo>
                  <a:pt x="2203450" y="0"/>
                </a:lnTo>
                <a:lnTo>
                  <a:pt x="2203450" y="2203450"/>
                </a:lnTo>
                <a:lnTo>
                  <a:pt x="0" y="220345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2929965" y="4736740"/>
            <a:ext cx="2138568" cy="2138568"/>
          </a:xfrm>
          <a:custGeom>
            <a:avLst/>
            <a:gdLst/>
            <a:ahLst/>
            <a:cxnLst/>
            <a:rect r="r" b="b" t="t" l="l"/>
            <a:pathLst>
              <a:path h="2138568" w="2138568">
                <a:moveTo>
                  <a:pt x="0" y="0"/>
                </a:moveTo>
                <a:lnTo>
                  <a:pt x="2138568" y="0"/>
                </a:lnTo>
                <a:lnTo>
                  <a:pt x="2138568" y="2138568"/>
                </a:lnTo>
                <a:lnTo>
                  <a:pt x="0" y="2138568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7360883" y="7724645"/>
            <a:ext cx="3770638" cy="693451"/>
          </a:xfrm>
          <a:custGeom>
            <a:avLst/>
            <a:gdLst/>
            <a:ahLst/>
            <a:cxnLst/>
            <a:rect r="r" b="b" t="t" l="l"/>
            <a:pathLst>
              <a:path h="693451" w="3770638">
                <a:moveTo>
                  <a:pt x="0" y="0"/>
                </a:moveTo>
                <a:lnTo>
                  <a:pt x="3770638" y="0"/>
                </a:lnTo>
                <a:lnTo>
                  <a:pt x="3770638" y="693451"/>
                </a:lnTo>
                <a:lnTo>
                  <a:pt x="0" y="693451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134646" y="3757587"/>
            <a:ext cx="2312289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Frontend: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068954" y="2329226"/>
            <a:ext cx="11406622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6399" b="true">
                <a:solidFill>
                  <a:srgbClr val="F1F8E9"/>
                </a:solidFill>
                <a:latin typeface="Poppins Bold"/>
                <a:ea typeface="Poppins Bold"/>
                <a:cs typeface="Poppins Bold"/>
                <a:sym typeface="Poppins Bold"/>
              </a:rPr>
              <a:t>Tech Stack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076756" y="3757587"/>
            <a:ext cx="2223389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Backend: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929965" y="3757587"/>
            <a:ext cx="2223389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Hosting: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98481" y="-389647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4"/>
                </a:lnTo>
                <a:lnTo>
                  <a:pt x="0" y="110662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-363526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3"/>
                </a:lnTo>
                <a:lnTo>
                  <a:pt x="0" y="110662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9190535">
            <a:off x="-1980178" y="-3645831"/>
            <a:ext cx="23857792" cy="16319974"/>
          </a:xfrm>
          <a:custGeom>
            <a:avLst/>
            <a:gdLst/>
            <a:ahLst/>
            <a:cxnLst/>
            <a:rect r="r" b="b" t="t" l="l"/>
            <a:pathLst>
              <a:path h="16319974" w="23857792">
                <a:moveTo>
                  <a:pt x="0" y="16319974"/>
                </a:moveTo>
                <a:lnTo>
                  <a:pt x="23857792" y="16319974"/>
                </a:lnTo>
                <a:lnTo>
                  <a:pt x="23857792" y="0"/>
                </a:lnTo>
                <a:lnTo>
                  <a:pt x="0" y="0"/>
                </a:lnTo>
                <a:lnTo>
                  <a:pt x="0" y="163199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2320349">
            <a:off x="3678037" y="11091107"/>
            <a:ext cx="20568324" cy="18074414"/>
          </a:xfrm>
          <a:custGeom>
            <a:avLst/>
            <a:gdLst/>
            <a:ahLst/>
            <a:cxnLst/>
            <a:rect r="r" b="b" t="t" l="l"/>
            <a:pathLst>
              <a:path h="18074414" w="20568324">
                <a:moveTo>
                  <a:pt x="20568323" y="18074415"/>
                </a:moveTo>
                <a:lnTo>
                  <a:pt x="0" y="18074415"/>
                </a:lnTo>
                <a:lnTo>
                  <a:pt x="0" y="0"/>
                </a:lnTo>
                <a:lnTo>
                  <a:pt x="20568323" y="0"/>
                </a:lnTo>
                <a:lnTo>
                  <a:pt x="20568323" y="18074415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562446" y="7724645"/>
            <a:ext cx="1393708" cy="2267869"/>
          </a:xfrm>
          <a:custGeom>
            <a:avLst/>
            <a:gdLst/>
            <a:ahLst/>
            <a:cxnLst/>
            <a:rect r="r" b="b" t="t" l="l"/>
            <a:pathLst>
              <a:path h="2267869" w="1393708">
                <a:moveTo>
                  <a:pt x="0" y="0"/>
                </a:moveTo>
                <a:lnTo>
                  <a:pt x="1393708" y="0"/>
                </a:lnTo>
                <a:lnTo>
                  <a:pt x="1393708" y="2267869"/>
                </a:lnTo>
                <a:lnTo>
                  <a:pt x="0" y="226786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687349" y="3548836"/>
            <a:ext cx="6960928" cy="6195226"/>
          </a:xfrm>
          <a:custGeom>
            <a:avLst/>
            <a:gdLst/>
            <a:ahLst/>
            <a:cxnLst/>
            <a:rect r="r" b="b" t="t" l="l"/>
            <a:pathLst>
              <a:path h="6195226" w="6960928">
                <a:moveTo>
                  <a:pt x="0" y="0"/>
                </a:moveTo>
                <a:lnTo>
                  <a:pt x="6960927" y="0"/>
                </a:lnTo>
                <a:lnTo>
                  <a:pt x="6960927" y="6195226"/>
                </a:lnTo>
                <a:lnTo>
                  <a:pt x="0" y="619522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068954" y="2329226"/>
            <a:ext cx="11406622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6399" b="true">
                <a:solidFill>
                  <a:srgbClr val="F1F8E9"/>
                </a:solidFill>
                <a:latin typeface="Poppins Bold"/>
                <a:ea typeface="Poppins Bold"/>
                <a:cs typeface="Poppins Bold"/>
                <a:sym typeface="Poppins Bold"/>
              </a:rPr>
              <a:t>Diagrams - ER Diagram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98481" y="-389647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4"/>
                </a:lnTo>
                <a:lnTo>
                  <a:pt x="0" y="110662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-363526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3"/>
                </a:lnTo>
                <a:lnTo>
                  <a:pt x="0" y="110662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9190535">
            <a:off x="-1980178" y="-3645831"/>
            <a:ext cx="23857792" cy="16319974"/>
          </a:xfrm>
          <a:custGeom>
            <a:avLst/>
            <a:gdLst/>
            <a:ahLst/>
            <a:cxnLst/>
            <a:rect r="r" b="b" t="t" l="l"/>
            <a:pathLst>
              <a:path h="16319974" w="23857792">
                <a:moveTo>
                  <a:pt x="0" y="16319974"/>
                </a:moveTo>
                <a:lnTo>
                  <a:pt x="23857792" y="16319974"/>
                </a:lnTo>
                <a:lnTo>
                  <a:pt x="23857792" y="0"/>
                </a:lnTo>
                <a:lnTo>
                  <a:pt x="0" y="0"/>
                </a:lnTo>
                <a:lnTo>
                  <a:pt x="0" y="163199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2320349">
            <a:off x="3678037" y="11091107"/>
            <a:ext cx="20568324" cy="18074414"/>
          </a:xfrm>
          <a:custGeom>
            <a:avLst/>
            <a:gdLst/>
            <a:ahLst/>
            <a:cxnLst/>
            <a:rect r="r" b="b" t="t" l="l"/>
            <a:pathLst>
              <a:path h="18074414" w="20568324">
                <a:moveTo>
                  <a:pt x="20568323" y="18074415"/>
                </a:moveTo>
                <a:lnTo>
                  <a:pt x="0" y="18074415"/>
                </a:lnTo>
                <a:lnTo>
                  <a:pt x="0" y="0"/>
                </a:lnTo>
                <a:lnTo>
                  <a:pt x="20568323" y="0"/>
                </a:lnTo>
                <a:lnTo>
                  <a:pt x="20568323" y="18074415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562446" y="7724645"/>
            <a:ext cx="1393708" cy="2267869"/>
          </a:xfrm>
          <a:custGeom>
            <a:avLst/>
            <a:gdLst/>
            <a:ahLst/>
            <a:cxnLst/>
            <a:rect r="r" b="b" t="t" l="l"/>
            <a:pathLst>
              <a:path h="2267869" w="1393708">
                <a:moveTo>
                  <a:pt x="0" y="0"/>
                </a:moveTo>
                <a:lnTo>
                  <a:pt x="1393708" y="0"/>
                </a:lnTo>
                <a:lnTo>
                  <a:pt x="1393708" y="2267869"/>
                </a:lnTo>
                <a:lnTo>
                  <a:pt x="0" y="226786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664276" y="3554577"/>
            <a:ext cx="7007074" cy="6183743"/>
          </a:xfrm>
          <a:custGeom>
            <a:avLst/>
            <a:gdLst/>
            <a:ahLst/>
            <a:cxnLst/>
            <a:rect r="r" b="b" t="t" l="l"/>
            <a:pathLst>
              <a:path h="6183743" w="7007074">
                <a:moveTo>
                  <a:pt x="0" y="0"/>
                </a:moveTo>
                <a:lnTo>
                  <a:pt x="7007073" y="0"/>
                </a:lnTo>
                <a:lnTo>
                  <a:pt x="7007073" y="6183743"/>
                </a:lnTo>
                <a:lnTo>
                  <a:pt x="0" y="618374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068954" y="2329226"/>
            <a:ext cx="12496023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6399" b="true">
                <a:solidFill>
                  <a:srgbClr val="F1F8E9"/>
                </a:solidFill>
                <a:latin typeface="Poppins Bold"/>
                <a:ea typeface="Poppins Bold"/>
                <a:cs typeface="Poppins Bold"/>
                <a:sym typeface="Poppins Bold"/>
              </a:rPr>
              <a:t>Diagrams - Context Diagram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98481" y="-389647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4"/>
                </a:lnTo>
                <a:lnTo>
                  <a:pt x="0" y="110662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-363526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3"/>
                </a:lnTo>
                <a:lnTo>
                  <a:pt x="0" y="110662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9190535">
            <a:off x="-1980178" y="-3645831"/>
            <a:ext cx="23857792" cy="16319974"/>
          </a:xfrm>
          <a:custGeom>
            <a:avLst/>
            <a:gdLst/>
            <a:ahLst/>
            <a:cxnLst/>
            <a:rect r="r" b="b" t="t" l="l"/>
            <a:pathLst>
              <a:path h="16319974" w="23857792">
                <a:moveTo>
                  <a:pt x="0" y="16319974"/>
                </a:moveTo>
                <a:lnTo>
                  <a:pt x="23857792" y="16319974"/>
                </a:lnTo>
                <a:lnTo>
                  <a:pt x="23857792" y="0"/>
                </a:lnTo>
                <a:lnTo>
                  <a:pt x="0" y="0"/>
                </a:lnTo>
                <a:lnTo>
                  <a:pt x="0" y="163199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2320349">
            <a:off x="3678037" y="11091107"/>
            <a:ext cx="20568324" cy="18074414"/>
          </a:xfrm>
          <a:custGeom>
            <a:avLst/>
            <a:gdLst/>
            <a:ahLst/>
            <a:cxnLst/>
            <a:rect r="r" b="b" t="t" l="l"/>
            <a:pathLst>
              <a:path h="18074414" w="20568324">
                <a:moveTo>
                  <a:pt x="20568323" y="18074415"/>
                </a:moveTo>
                <a:lnTo>
                  <a:pt x="0" y="18074415"/>
                </a:lnTo>
                <a:lnTo>
                  <a:pt x="0" y="0"/>
                </a:lnTo>
                <a:lnTo>
                  <a:pt x="20568323" y="0"/>
                </a:lnTo>
                <a:lnTo>
                  <a:pt x="20568323" y="18074415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562446" y="7724645"/>
            <a:ext cx="1393708" cy="2267869"/>
          </a:xfrm>
          <a:custGeom>
            <a:avLst/>
            <a:gdLst/>
            <a:ahLst/>
            <a:cxnLst/>
            <a:rect r="r" b="b" t="t" l="l"/>
            <a:pathLst>
              <a:path h="2267869" w="1393708">
                <a:moveTo>
                  <a:pt x="0" y="0"/>
                </a:moveTo>
                <a:lnTo>
                  <a:pt x="1393708" y="0"/>
                </a:lnTo>
                <a:lnTo>
                  <a:pt x="1393708" y="2267869"/>
                </a:lnTo>
                <a:lnTo>
                  <a:pt x="0" y="226786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493371" y="3676228"/>
            <a:ext cx="11301259" cy="5424604"/>
          </a:xfrm>
          <a:custGeom>
            <a:avLst/>
            <a:gdLst/>
            <a:ahLst/>
            <a:cxnLst/>
            <a:rect r="r" b="b" t="t" l="l"/>
            <a:pathLst>
              <a:path h="5424604" w="11301259">
                <a:moveTo>
                  <a:pt x="0" y="0"/>
                </a:moveTo>
                <a:lnTo>
                  <a:pt x="11301258" y="0"/>
                </a:lnTo>
                <a:lnTo>
                  <a:pt x="11301258" y="5424604"/>
                </a:lnTo>
                <a:lnTo>
                  <a:pt x="0" y="542460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068954" y="2329226"/>
            <a:ext cx="14223502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6399" b="true">
                <a:solidFill>
                  <a:srgbClr val="F1F8E9"/>
                </a:solidFill>
                <a:latin typeface="Poppins Bold"/>
                <a:ea typeface="Poppins Bold"/>
                <a:cs typeface="Poppins Bold"/>
                <a:sym typeface="Poppins Bold"/>
              </a:rPr>
              <a:t>Diagrams - Architecture Diagram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98481" y="-389647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4"/>
                </a:lnTo>
                <a:lnTo>
                  <a:pt x="0" y="110662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-363526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3"/>
                </a:lnTo>
                <a:lnTo>
                  <a:pt x="0" y="110662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9190535">
            <a:off x="-1980178" y="-3645831"/>
            <a:ext cx="23857792" cy="16319974"/>
          </a:xfrm>
          <a:custGeom>
            <a:avLst/>
            <a:gdLst/>
            <a:ahLst/>
            <a:cxnLst/>
            <a:rect r="r" b="b" t="t" l="l"/>
            <a:pathLst>
              <a:path h="16319974" w="23857792">
                <a:moveTo>
                  <a:pt x="0" y="16319974"/>
                </a:moveTo>
                <a:lnTo>
                  <a:pt x="23857792" y="16319974"/>
                </a:lnTo>
                <a:lnTo>
                  <a:pt x="23857792" y="0"/>
                </a:lnTo>
                <a:lnTo>
                  <a:pt x="0" y="0"/>
                </a:lnTo>
                <a:lnTo>
                  <a:pt x="0" y="163199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2320349">
            <a:off x="3678037" y="11091107"/>
            <a:ext cx="20568324" cy="18074414"/>
          </a:xfrm>
          <a:custGeom>
            <a:avLst/>
            <a:gdLst/>
            <a:ahLst/>
            <a:cxnLst/>
            <a:rect r="r" b="b" t="t" l="l"/>
            <a:pathLst>
              <a:path h="18074414" w="20568324">
                <a:moveTo>
                  <a:pt x="20568323" y="18074415"/>
                </a:moveTo>
                <a:lnTo>
                  <a:pt x="0" y="18074415"/>
                </a:lnTo>
                <a:lnTo>
                  <a:pt x="0" y="0"/>
                </a:lnTo>
                <a:lnTo>
                  <a:pt x="20568323" y="0"/>
                </a:lnTo>
                <a:lnTo>
                  <a:pt x="20568323" y="18074415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562446" y="7724645"/>
            <a:ext cx="1393708" cy="2267869"/>
          </a:xfrm>
          <a:custGeom>
            <a:avLst/>
            <a:gdLst/>
            <a:ahLst/>
            <a:cxnLst/>
            <a:rect r="r" b="b" t="t" l="l"/>
            <a:pathLst>
              <a:path h="2267869" w="1393708">
                <a:moveTo>
                  <a:pt x="0" y="0"/>
                </a:moveTo>
                <a:lnTo>
                  <a:pt x="1393708" y="0"/>
                </a:lnTo>
                <a:lnTo>
                  <a:pt x="1393708" y="2267869"/>
                </a:lnTo>
                <a:lnTo>
                  <a:pt x="0" y="226786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708464" y="3467970"/>
            <a:ext cx="4918696" cy="6356958"/>
          </a:xfrm>
          <a:custGeom>
            <a:avLst/>
            <a:gdLst/>
            <a:ahLst/>
            <a:cxnLst/>
            <a:rect r="r" b="b" t="t" l="l"/>
            <a:pathLst>
              <a:path h="6356958" w="4918696">
                <a:moveTo>
                  <a:pt x="0" y="0"/>
                </a:moveTo>
                <a:lnTo>
                  <a:pt x="4918697" y="0"/>
                </a:lnTo>
                <a:lnTo>
                  <a:pt x="4918697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068954" y="2329226"/>
            <a:ext cx="12496023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6399" b="true">
                <a:solidFill>
                  <a:srgbClr val="F1F8E9"/>
                </a:solidFill>
                <a:latin typeface="Poppins Bold"/>
                <a:ea typeface="Poppins Bold"/>
                <a:cs typeface="Poppins Bold"/>
                <a:sym typeface="Poppins Bold"/>
              </a:rPr>
              <a:t>Diagrams - State Diagram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98481" y="-389647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4"/>
                </a:lnTo>
                <a:lnTo>
                  <a:pt x="0" y="110662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-363526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3"/>
                </a:lnTo>
                <a:lnTo>
                  <a:pt x="0" y="110662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9190535">
            <a:off x="-1980178" y="-3645831"/>
            <a:ext cx="23857792" cy="16319974"/>
          </a:xfrm>
          <a:custGeom>
            <a:avLst/>
            <a:gdLst/>
            <a:ahLst/>
            <a:cxnLst/>
            <a:rect r="r" b="b" t="t" l="l"/>
            <a:pathLst>
              <a:path h="16319974" w="23857792">
                <a:moveTo>
                  <a:pt x="0" y="16319974"/>
                </a:moveTo>
                <a:lnTo>
                  <a:pt x="23857792" y="16319974"/>
                </a:lnTo>
                <a:lnTo>
                  <a:pt x="23857792" y="0"/>
                </a:lnTo>
                <a:lnTo>
                  <a:pt x="0" y="0"/>
                </a:lnTo>
                <a:lnTo>
                  <a:pt x="0" y="163199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2320349">
            <a:off x="3678037" y="11091107"/>
            <a:ext cx="20568324" cy="18074414"/>
          </a:xfrm>
          <a:custGeom>
            <a:avLst/>
            <a:gdLst/>
            <a:ahLst/>
            <a:cxnLst/>
            <a:rect r="r" b="b" t="t" l="l"/>
            <a:pathLst>
              <a:path h="18074414" w="20568324">
                <a:moveTo>
                  <a:pt x="20568323" y="18074415"/>
                </a:moveTo>
                <a:lnTo>
                  <a:pt x="0" y="18074415"/>
                </a:lnTo>
                <a:lnTo>
                  <a:pt x="0" y="0"/>
                </a:lnTo>
                <a:lnTo>
                  <a:pt x="20568323" y="0"/>
                </a:lnTo>
                <a:lnTo>
                  <a:pt x="20568323" y="18074415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562446" y="7724645"/>
            <a:ext cx="1393708" cy="2267869"/>
          </a:xfrm>
          <a:custGeom>
            <a:avLst/>
            <a:gdLst/>
            <a:ahLst/>
            <a:cxnLst/>
            <a:rect r="r" b="b" t="t" l="l"/>
            <a:pathLst>
              <a:path h="2267869" w="1393708">
                <a:moveTo>
                  <a:pt x="0" y="0"/>
                </a:moveTo>
                <a:lnTo>
                  <a:pt x="1393708" y="0"/>
                </a:lnTo>
                <a:lnTo>
                  <a:pt x="1393708" y="2267869"/>
                </a:lnTo>
                <a:lnTo>
                  <a:pt x="0" y="226786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284564" y="3467970"/>
            <a:ext cx="3766498" cy="6356958"/>
          </a:xfrm>
          <a:custGeom>
            <a:avLst/>
            <a:gdLst/>
            <a:ahLst/>
            <a:cxnLst/>
            <a:rect r="r" b="b" t="t" l="l"/>
            <a:pathLst>
              <a:path h="6356958" w="3766498">
                <a:moveTo>
                  <a:pt x="0" y="0"/>
                </a:moveTo>
                <a:lnTo>
                  <a:pt x="3766497" y="0"/>
                </a:lnTo>
                <a:lnTo>
                  <a:pt x="3766497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068954" y="2329226"/>
            <a:ext cx="13180789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6399" b="true">
                <a:solidFill>
                  <a:srgbClr val="F1F8E9"/>
                </a:solidFill>
                <a:latin typeface="Poppins Bold"/>
                <a:ea typeface="Poppins Bold"/>
                <a:cs typeface="Poppins Bold"/>
                <a:sym typeface="Poppins Bold"/>
              </a:rPr>
              <a:t>Diagrams - Sequence Diagram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98481" y="-389647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4"/>
                </a:lnTo>
                <a:lnTo>
                  <a:pt x="0" y="110662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-363526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3"/>
                </a:lnTo>
                <a:lnTo>
                  <a:pt x="0" y="110662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9190535">
            <a:off x="-1980178" y="-3645831"/>
            <a:ext cx="23857792" cy="16319974"/>
          </a:xfrm>
          <a:custGeom>
            <a:avLst/>
            <a:gdLst/>
            <a:ahLst/>
            <a:cxnLst/>
            <a:rect r="r" b="b" t="t" l="l"/>
            <a:pathLst>
              <a:path h="16319974" w="23857792">
                <a:moveTo>
                  <a:pt x="0" y="16319974"/>
                </a:moveTo>
                <a:lnTo>
                  <a:pt x="23857792" y="16319974"/>
                </a:lnTo>
                <a:lnTo>
                  <a:pt x="23857792" y="0"/>
                </a:lnTo>
                <a:lnTo>
                  <a:pt x="0" y="0"/>
                </a:lnTo>
                <a:lnTo>
                  <a:pt x="0" y="163199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2320349">
            <a:off x="3678037" y="11091107"/>
            <a:ext cx="20568324" cy="18074414"/>
          </a:xfrm>
          <a:custGeom>
            <a:avLst/>
            <a:gdLst/>
            <a:ahLst/>
            <a:cxnLst/>
            <a:rect r="r" b="b" t="t" l="l"/>
            <a:pathLst>
              <a:path h="18074414" w="20568324">
                <a:moveTo>
                  <a:pt x="20568323" y="18074415"/>
                </a:moveTo>
                <a:lnTo>
                  <a:pt x="0" y="18074415"/>
                </a:lnTo>
                <a:lnTo>
                  <a:pt x="0" y="0"/>
                </a:lnTo>
                <a:lnTo>
                  <a:pt x="20568323" y="0"/>
                </a:lnTo>
                <a:lnTo>
                  <a:pt x="20568323" y="18074415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562446" y="7724645"/>
            <a:ext cx="1393708" cy="2267869"/>
          </a:xfrm>
          <a:custGeom>
            <a:avLst/>
            <a:gdLst/>
            <a:ahLst/>
            <a:cxnLst/>
            <a:rect r="r" b="b" t="t" l="l"/>
            <a:pathLst>
              <a:path h="2267869" w="1393708">
                <a:moveTo>
                  <a:pt x="0" y="0"/>
                </a:moveTo>
                <a:lnTo>
                  <a:pt x="1393708" y="0"/>
                </a:lnTo>
                <a:lnTo>
                  <a:pt x="1393708" y="2267869"/>
                </a:lnTo>
                <a:lnTo>
                  <a:pt x="0" y="226786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022875" y="3201884"/>
            <a:ext cx="5534136" cy="6297748"/>
          </a:xfrm>
          <a:custGeom>
            <a:avLst/>
            <a:gdLst/>
            <a:ahLst/>
            <a:cxnLst/>
            <a:rect r="r" b="b" t="t" l="l"/>
            <a:pathLst>
              <a:path h="6297748" w="5534136">
                <a:moveTo>
                  <a:pt x="0" y="0"/>
                </a:moveTo>
                <a:lnTo>
                  <a:pt x="5534136" y="0"/>
                </a:lnTo>
                <a:lnTo>
                  <a:pt x="5534136" y="6297749"/>
                </a:lnTo>
                <a:lnTo>
                  <a:pt x="0" y="629774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230294" y="2117459"/>
            <a:ext cx="15585161" cy="1788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6399" b="true">
                <a:solidFill>
                  <a:srgbClr val="F1F8E9"/>
                </a:solidFill>
                <a:latin typeface="Poppins Bold"/>
                <a:ea typeface="Poppins Bold"/>
                <a:cs typeface="Poppins Bold"/>
                <a:sym typeface="Poppins Bold"/>
              </a:rPr>
              <a:t>Diagrams - AI Recommendation Pipeline (FastAPI)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98481" y="-389647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4"/>
                </a:lnTo>
                <a:lnTo>
                  <a:pt x="0" y="110662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-363526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3"/>
                </a:lnTo>
                <a:lnTo>
                  <a:pt x="0" y="110662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9190535">
            <a:off x="-1980178" y="-3645831"/>
            <a:ext cx="23857792" cy="16319974"/>
          </a:xfrm>
          <a:custGeom>
            <a:avLst/>
            <a:gdLst/>
            <a:ahLst/>
            <a:cxnLst/>
            <a:rect r="r" b="b" t="t" l="l"/>
            <a:pathLst>
              <a:path h="16319974" w="23857792">
                <a:moveTo>
                  <a:pt x="0" y="16319974"/>
                </a:moveTo>
                <a:lnTo>
                  <a:pt x="23857792" y="16319974"/>
                </a:lnTo>
                <a:lnTo>
                  <a:pt x="23857792" y="0"/>
                </a:lnTo>
                <a:lnTo>
                  <a:pt x="0" y="0"/>
                </a:lnTo>
                <a:lnTo>
                  <a:pt x="0" y="163199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2320349">
            <a:off x="3678037" y="11091107"/>
            <a:ext cx="20568324" cy="18074414"/>
          </a:xfrm>
          <a:custGeom>
            <a:avLst/>
            <a:gdLst/>
            <a:ahLst/>
            <a:cxnLst/>
            <a:rect r="r" b="b" t="t" l="l"/>
            <a:pathLst>
              <a:path h="18074414" w="20568324">
                <a:moveTo>
                  <a:pt x="20568323" y="18074415"/>
                </a:moveTo>
                <a:lnTo>
                  <a:pt x="0" y="18074415"/>
                </a:lnTo>
                <a:lnTo>
                  <a:pt x="0" y="0"/>
                </a:lnTo>
                <a:lnTo>
                  <a:pt x="20568323" y="0"/>
                </a:lnTo>
                <a:lnTo>
                  <a:pt x="20568323" y="18074415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562446" y="7724645"/>
            <a:ext cx="1393708" cy="2267869"/>
          </a:xfrm>
          <a:custGeom>
            <a:avLst/>
            <a:gdLst/>
            <a:ahLst/>
            <a:cxnLst/>
            <a:rect r="r" b="b" t="t" l="l"/>
            <a:pathLst>
              <a:path h="2267869" w="1393708">
                <a:moveTo>
                  <a:pt x="0" y="0"/>
                </a:moveTo>
                <a:lnTo>
                  <a:pt x="1393708" y="0"/>
                </a:lnTo>
                <a:lnTo>
                  <a:pt x="1393708" y="2267869"/>
                </a:lnTo>
                <a:lnTo>
                  <a:pt x="0" y="226786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5940" y="4651031"/>
            <a:ext cx="6740808" cy="3990836"/>
          </a:xfrm>
          <a:custGeom>
            <a:avLst/>
            <a:gdLst/>
            <a:ahLst/>
            <a:cxnLst/>
            <a:rect r="r" b="b" t="t" l="l"/>
            <a:pathLst>
              <a:path h="3990836" w="6740808">
                <a:moveTo>
                  <a:pt x="0" y="0"/>
                </a:moveTo>
                <a:lnTo>
                  <a:pt x="6740808" y="0"/>
                </a:lnTo>
                <a:lnTo>
                  <a:pt x="6740808" y="3990836"/>
                </a:lnTo>
                <a:lnTo>
                  <a:pt x="0" y="399083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-15802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680666" y="4585951"/>
            <a:ext cx="6740808" cy="3918095"/>
          </a:xfrm>
          <a:custGeom>
            <a:avLst/>
            <a:gdLst/>
            <a:ahLst/>
            <a:cxnLst/>
            <a:rect r="r" b="b" t="t" l="l"/>
            <a:pathLst>
              <a:path h="3918095" w="6740808">
                <a:moveTo>
                  <a:pt x="0" y="0"/>
                </a:moveTo>
                <a:lnTo>
                  <a:pt x="6740808" y="0"/>
                </a:lnTo>
                <a:lnTo>
                  <a:pt x="6740808" y="3918095"/>
                </a:lnTo>
                <a:lnTo>
                  <a:pt x="0" y="391809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896489" y="1057275"/>
            <a:ext cx="13180789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6399" b="true">
                <a:solidFill>
                  <a:srgbClr val="F1F8E9"/>
                </a:solidFill>
                <a:latin typeface="Poppins Bold"/>
                <a:ea typeface="Poppins Bold"/>
                <a:cs typeface="Poppins Bold"/>
                <a:sym typeface="Poppins Bold"/>
              </a:rPr>
              <a:t>Dataset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80280" y="3216843"/>
            <a:ext cx="7032129" cy="2386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b="true" sz="3200">
                <a:solidFill>
                  <a:srgbClr val="F1F8E9"/>
                </a:solidFill>
                <a:latin typeface="Poppins Bold"/>
                <a:ea typeface="Poppins Bold"/>
                <a:cs typeface="Poppins Bold"/>
                <a:sym typeface="Poppins Bold"/>
              </a:rPr>
              <a:t>Epic</a:t>
            </a:r>
            <a:r>
              <a:rPr lang="en-US" b="true" sz="3200">
                <a:solidFill>
                  <a:srgbClr val="F1F8E9"/>
                </a:solidFill>
                <a:latin typeface="Poppins Bold"/>
                <a:ea typeface="Poppins Bold"/>
                <a:cs typeface="Poppins Bold"/>
                <a:sym typeface="Poppins Bold"/>
              </a:rPr>
              <a:t>urious -</a:t>
            </a:r>
          </a:p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b="true" sz="3200">
                <a:solidFill>
                  <a:srgbClr val="F1F8E9"/>
                </a:solidFill>
                <a:latin typeface="Poppins Bold"/>
                <a:ea typeface="Poppins Bold"/>
                <a:cs typeface="Poppins Bold"/>
                <a:sym typeface="Poppins Bold"/>
              </a:rPr>
              <a:t> Recipes with Rating and Nutrition</a:t>
            </a:r>
          </a:p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b="true" sz="15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https://www.kaggle.com/datasets/hugodarwood/epirecipes</a:t>
            </a:r>
          </a:p>
          <a:p>
            <a:pPr algn="ctr">
              <a:lnSpc>
                <a:spcPts val="3360"/>
              </a:lnSpc>
              <a:spcBef>
                <a:spcPct val="0"/>
              </a:spcBef>
            </a:pPr>
          </a:p>
          <a:p>
            <a:pPr algn="ctr">
              <a:lnSpc>
                <a:spcPts val="6719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9680666" y="3308149"/>
            <a:ext cx="6465834" cy="1758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b="true" sz="3200">
                <a:solidFill>
                  <a:srgbClr val="F1F8E9"/>
                </a:solidFill>
                <a:latin typeface="Poppins Bold"/>
                <a:ea typeface="Poppins Bold"/>
                <a:cs typeface="Poppins Bold"/>
                <a:sym typeface="Poppins Bold"/>
              </a:rPr>
              <a:t>Daily Food &amp; Nutrition Dataset</a:t>
            </a:r>
          </a:p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b="true" sz="15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https://www.kaggle.com/datasets/adilshamim8/daily-food-and-nutrition-dataset</a:t>
            </a:r>
          </a:p>
          <a:p>
            <a:pPr algn="ctr">
              <a:lnSpc>
                <a:spcPts val="6719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2851693" y="8868105"/>
            <a:ext cx="2689027" cy="262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90"/>
              </a:lnSpc>
              <a:spcBef>
                <a:spcPct val="0"/>
              </a:spcBef>
            </a:pPr>
            <a:r>
              <a:rPr lang="en-US" b="true" sz="18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20,000+ entries of data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014691" y="8868105"/>
            <a:ext cx="2340471" cy="262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90"/>
              </a:lnSpc>
              <a:spcBef>
                <a:spcPct val="0"/>
              </a:spcBef>
            </a:pPr>
            <a:r>
              <a:rPr lang="en-US" b="true" sz="18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600+ entries of data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98481" y="-389647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4"/>
                </a:lnTo>
                <a:lnTo>
                  <a:pt x="0" y="110662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-363526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3"/>
                </a:lnTo>
                <a:lnTo>
                  <a:pt x="0" y="110662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9190535">
            <a:off x="-1980178" y="-3645831"/>
            <a:ext cx="23857792" cy="16319974"/>
          </a:xfrm>
          <a:custGeom>
            <a:avLst/>
            <a:gdLst/>
            <a:ahLst/>
            <a:cxnLst/>
            <a:rect r="r" b="b" t="t" l="l"/>
            <a:pathLst>
              <a:path h="16319974" w="23857792">
                <a:moveTo>
                  <a:pt x="0" y="16319974"/>
                </a:moveTo>
                <a:lnTo>
                  <a:pt x="23857792" y="16319974"/>
                </a:lnTo>
                <a:lnTo>
                  <a:pt x="23857792" y="0"/>
                </a:lnTo>
                <a:lnTo>
                  <a:pt x="0" y="0"/>
                </a:lnTo>
                <a:lnTo>
                  <a:pt x="0" y="163199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2320349">
            <a:off x="3678037" y="11091107"/>
            <a:ext cx="20568324" cy="18074414"/>
          </a:xfrm>
          <a:custGeom>
            <a:avLst/>
            <a:gdLst/>
            <a:ahLst/>
            <a:cxnLst/>
            <a:rect r="r" b="b" t="t" l="l"/>
            <a:pathLst>
              <a:path h="18074414" w="20568324">
                <a:moveTo>
                  <a:pt x="20568323" y="18074415"/>
                </a:moveTo>
                <a:lnTo>
                  <a:pt x="0" y="18074415"/>
                </a:lnTo>
                <a:lnTo>
                  <a:pt x="0" y="0"/>
                </a:lnTo>
                <a:lnTo>
                  <a:pt x="20568323" y="0"/>
                </a:lnTo>
                <a:lnTo>
                  <a:pt x="20568323" y="18074415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562446" y="7724645"/>
            <a:ext cx="1393708" cy="2267869"/>
          </a:xfrm>
          <a:custGeom>
            <a:avLst/>
            <a:gdLst/>
            <a:ahLst/>
            <a:cxnLst/>
            <a:rect r="r" b="b" t="t" l="l"/>
            <a:pathLst>
              <a:path h="2267869" w="1393708">
                <a:moveTo>
                  <a:pt x="0" y="0"/>
                </a:moveTo>
                <a:lnTo>
                  <a:pt x="1393708" y="0"/>
                </a:lnTo>
                <a:lnTo>
                  <a:pt x="1393708" y="2267869"/>
                </a:lnTo>
                <a:lnTo>
                  <a:pt x="0" y="226786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97594" y="2574009"/>
            <a:ext cx="14728667" cy="691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AI Recipe Recommender (Scikit-Learn)</a:t>
            </a:r>
          </a:p>
          <a:p>
            <a:pPr algn="l" marL="647700" indent="-323850" lvl="1">
              <a:lnSpc>
                <a:spcPts val="4200"/>
              </a:lnSpc>
              <a:buAutoNum type="arabicPeriod" startAt="1"/>
            </a:pPr>
            <a:r>
              <a:rPr lang="en-US" sz="30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Convert text data into numerical vectors using TF-IDF</a:t>
            </a:r>
          </a:p>
          <a:p>
            <a:pPr algn="l" marL="647700" indent="-323850" lvl="1">
              <a:lnSpc>
                <a:spcPts val="4200"/>
              </a:lnSpc>
              <a:buAutoNum type="arabicPeriod" startAt="1"/>
            </a:pPr>
            <a:r>
              <a:rPr lang="en-US" sz="30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Retrieve user information and user input for what they’re “craving”.</a:t>
            </a:r>
          </a:p>
          <a:p>
            <a:pPr algn="l" marL="1295400" indent="-431800" lvl="2">
              <a:lnSpc>
                <a:spcPts val="4200"/>
              </a:lnSpc>
              <a:buAutoNum type="alphaLcPeriod" startAt="1"/>
            </a:pPr>
            <a:r>
              <a:rPr lang="en-US" sz="30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Clean user input by stripping symbols and spacing</a:t>
            </a:r>
          </a:p>
          <a:p>
            <a:pPr algn="l" marL="647700" indent="-323850" lvl="1">
              <a:lnSpc>
                <a:spcPts val="4200"/>
              </a:lnSpc>
              <a:buAutoNum type="arabicPeriod" startAt="1"/>
            </a:pPr>
            <a:r>
              <a:rPr lang="en-US" sz="30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Compare user input with recipe vectors</a:t>
            </a:r>
          </a:p>
          <a:p>
            <a:pPr algn="l" marL="647700" indent="-323850" lvl="1">
              <a:lnSpc>
                <a:spcPts val="4200"/>
              </a:lnSpc>
              <a:buAutoNum type="arabicPeriod" startAt="1"/>
            </a:pPr>
            <a:r>
              <a:rPr lang="en-US" sz="30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Cosine similarity measures matches with the user’s input and recipes in the dataset</a:t>
            </a:r>
          </a:p>
          <a:p>
            <a:pPr algn="l" marL="647700" indent="-323850" lvl="1">
              <a:lnSpc>
                <a:spcPts val="4200"/>
              </a:lnSpc>
              <a:buAutoNum type="arabicPeriod" startAt="1"/>
            </a:pPr>
            <a:r>
              <a:rPr lang="en-US" sz="30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Ranks recipe by similarity score</a:t>
            </a:r>
          </a:p>
          <a:p>
            <a:pPr algn="l" marL="647700" indent="-323850" lvl="1">
              <a:lnSpc>
                <a:spcPts val="4200"/>
              </a:lnSpc>
              <a:buAutoNum type="arabicPeriod" startAt="1"/>
            </a:pPr>
            <a:r>
              <a:rPr lang="en-US" sz="30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Returns top matching recipes as recommendations</a:t>
            </a:r>
          </a:p>
          <a:p>
            <a:pPr algn="l" marL="1295400" indent="-431800" lvl="2">
              <a:lnSpc>
                <a:spcPts val="4200"/>
              </a:lnSpc>
              <a:buAutoNum type="alphaLcPeriod" startAt="1"/>
            </a:pPr>
            <a:r>
              <a:rPr lang="en-US" b="true" sz="3000">
                <a:solidFill>
                  <a:srgbClr val="F1F8E9"/>
                </a:solidFill>
                <a:latin typeface="Nunito Bold"/>
                <a:ea typeface="Nunito Bold"/>
                <a:cs typeface="Nunito Bold"/>
                <a:sym typeface="Nunito Bold"/>
              </a:rPr>
              <a:t>Improvements: </a:t>
            </a:r>
          </a:p>
          <a:p>
            <a:pPr algn="l" marL="1943100" indent="-485775" lvl="3">
              <a:lnSpc>
                <a:spcPts val="4200"/>
              </a:lnSpc>
              <a:buAutoNum type="romanLcPeriod" startAt="1"/>
            </a:pPr>
            <a:r>
              <a:rPr lang="en-US" b="true" sz="3000">
                <a:solidFill>
                  <a:srgbClr val="F1F8E9"/>
                </a:solidFill>
                <a:latin typeface="Nunito Bold"/>
                <a:ea typeface="Nunito Bold"/>
                <a:cs typeface="Nunito Bold"/>
                <a:sym typeface="Nunito Bold"/>
              </a:rPr>
              <a:t>Implemented into FastApi.</a:t>
            </a:r>
          </a:p>
          <a:p>
            <a:pPr algn="l" marL="1943100" indent="-485775" lvl="3">
              <a:lnSpc>
                <a:spcPts val="4200"/>
              </a:lnSpc>
              <a:buAutoNum type="romanLcPeriod" startAt="1"/>
            </a:pPr>
            <a:r>
              <a:rPr lang="en-US" b="true" sz="3000">
                <a:solidFill>
                  <a:srgbClr val="F1F8E9"/>
                </a:solidFill>
                <a:latin typeface="Nunito Bold"/>
                <a:ea typeface="Nunito Bold"/>
                <a:cs typeface="Nunito Bold"/>
                <a:sym typeface="Nunito Bold"/>
              </a:rPr>
              <a:t>Connected algorithm to NutriAI application.</a:t>
            </a:r>
          </a:p>
          <a:p>
            <a:pPr algn="l" marL="1943100" indent="-485775" lvl="3">
              <a:lnSpc>
                <a:spcPts val="4200"/>
              </a:lnSpc>
              <a:buAutoNum type="romanLcPeriod" startAt="1"/>
            </a:pPr>
            <a:r>
              <a:rPr lang="en-US" b="true" sz="3000">
                <a:solidFill>
                  <a:srgbClr val="F1F8E9"/>
                </a:solidFill>
                <a:latin typeface="Nunito Bold"/>
                <a:ea typeface="Nunito Bold"/>
                <a:cs typeface="Nunito Bold"/>
                <a:sym typeface="Nunito Bold"/>
              </a:rPr>
              <a:t>Enhanced AI Recommender Logic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8995396" y="1028700"/>
            <a:ext cx="7908828" cy="2066181"/>
          </a:xfrm>
          <a:custGeom>
            <a:avLst/>
            <a:gdLst/>
            <a:ahLst/>
            <a:cxnLst/>
            <a:rect r="r" b="b" t="t" l="l"/>
            <a:pathLst>
              <a:path h="2066181" w="7908828">
                <a:moveTo>
                  <a:pt x="0" y="0"/>
                </a:moveTo>
                <a:lnTo>
                  <a:pt x="7908828" y="0"/>
                </a:lnTo>
                <a:lnTo>
                  <a:pt x="7908828" y="2066181"/>
                </a:lnTo>
                <a:lnTo>
                  <a:pt x="0" y="206618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977649" y="1406028"/>
            <a:ext cx="13180789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6399" b="true">
                <a:solidFill>
                  <a:srgbClr val="F1F8E9"/>
                </a:solidFill>
                <a:latin typeface="Poppins Bold"/>
                <a:ea typeface="Poppins Bold"/>
                <a:cs typeface="Poppins Bold"/>
                <a:sym typeface="Poppins Bold"/>
              </a:rPr>
              <a:t>Algorithms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98481" y="-389647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4"/>
                </a:lnTo>
                <a:lnTo>
                  <a:pt x="0" y="110662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9190535">
            <a:off x="-1980178" y="-3645831"/>
            <a:ext cx="23857792" cy="16319974"/>
          </a:xfrm>
          <a:custGeom>
            <a:avLst/>
            <a:gdLst/>
            <a:ahLst/>
            <a:cxnLst/>
            <a:rect r="r" b="b" t="t" l="l"/>
            <a:pathLst>
              <a:path h="16319974" w="23857792">
                <a:moveTo>
                  <a:pt x="0" y="16319974"/>
                </a:moveTo>
                <a:lnTo>
                  <a:pt x="23857792" y="16319974"/>
                </a:lnTo>
                <a:lnTo>
                  <a:pt x="23857792" y="0"/>
                </a:lnTo>
                <a:lnTo>
                  <a:pt x="0" y="0"/>
                </a:lnTo>
                <a:lnTo>
                  <a:pt x="0" y="163199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2320349">
            <a:off x="3678037" y="11091107"/>
            <a:ext cx="20568324" cy="18074414"/>
          </a:xfrm>
          <a:custGeom>
            <a:avLst/>
            <a:gdLst/>
            <a:ahLst/>
            <a:cxnLst/>
            <a:rect r="r" b="b" t="t" l="l"/>
            <a:pathLst>
              <a:path h="18074414" w="20568324">
                <a:moveTo>
                  <a:pt x="20568323" y="18074415"/>
                </a:moveTo>
                <a:lnTo>
                  <a:pt x="0" y="18074415"/>
                </a:lnTo>
                <a:lnTo>
                  <a:pt x="0" y="0"/>
                </a:lnTo>
                <a:lnTo>
                  <a:pt x="20568323" y="0"/>
                </a:lnTo>
                <a:lnTo>
                  <a:pt x="20568323" y="18074415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562446" y="7724645"/>
            <a:ext cx="1393708" cy="2267869"/>
          </a:xfrm>
          <a:custGeom>
            <a:avLst/>
            <a:gdLst/>
            <a:ahLst/>
            <a:cxnLst/>
            <a:rect r="r" b="b" t="t" l="l"/>
            <a:pathLst>
              <a:path h="2267869" w="1393708">
                <a:moveTo>
                  <a:pt x="0" y="0"/>
                </a:moveTo>
                <a:lnTo>
                  <a:pt x="1393708" y="0"/>
                </a:lnTo>
                <a:lnTo>
                  <a:pt x="1393708" y="2267869"/>
                </a:lnTo>
                <a:lnTo>
                  <a:pt x="0" y="226786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977649" y="1406028"/>
            <a:ext cx="13180789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6399" b="true">
                <a:solidFill>
                  <a:srgbClr val="F1F8E9"/>
                </a:solidFill>
                <a:latin typeface="Poppins Bold"/>
                <a:ea typeface="Poppins Bold"/>
                <a:cs typeface="Poppins Bold"/>
                <a:sym typeface="Poppins Bold"/>
              </a:rPr>
              <a:t>Sprint 1 Recap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977649" y="3120390"/>
            <a:ext cx="12528153" cy="50711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97" indent="-345448" lvl="1">
              <a:lnSpc>
                <a:spcPts val="3360"/>
              </a:lnSpc>
              <a:buFont typeface="Arial"/>
              <a:buChar char="•"/>
            </a:pPr>
            <a:r>
              <a:rPr lang="en-US" sz="3200">
                <a:solidFill>
                  <a:srgbClr val="F1F8E9"/>
                </a:solidFill>
                <a:latin typeface="Poppins"/>
                <a:ea typeface="Poppins"/>
                <a:cs typeface="Poppins"/>
                <a:sym typeface="Poppins"/>
              </a:rPr>
              <a:t>Environment setup</a:t>
            </a:r>
          </a:p>
          <a:p>
            <a:pPr algn="l" marL="1381793" indent="-460598" lvl="2">
              <a:lnSpc>
                <a:spcPts val="3360"/>
              </a:lnSpc>
              <a:buFont typeface="Arial"/>
              <a:buChar char="⚬"/>
            </a:pPr>
            <a:r>
              <a:rPr lang="en-US" sz="3200">
                <a:solidFill>
                  <a:srgbClr val="F1F8E9"/>
                </a:solidFill>
                <a:latin typeface="Poppins"/>
                <a:ea typeface="Poppins"/>
                <a:cs typeface="Poppins"/>
                <a:sym typeface="Poppins"/>
              </a:rPr>
              <a:t>Next.js frontend</a:t>
            </a:r>
          </a:p>
          <a:p>
            <a:pPr algn="l" marL="1381793" indent="-460598" lvl="2">
              <a:lnSpc>
                <a:spcPts val="3360"/>
              </a:lnSpc>
              <a:buFont typeface="Arial"/>
              <a:buChar char="⚬"/>
            </a:pPr>
            <a:r>
              <a:rPr lang="en-US" sz="3200">
                <a:solidFill>
                  <a:srgbClr val="F1F8E9"/>
                </a:solidFill>
                <a:latin typeface="Poppins"/>
                <a:ea typeface="Poppins"/>
                <a:cs typeface="Poppins"/>
                <a:sym typeface="Poppins"/>
              </a:rPr>
              <a:t>MongoDB database</a:t>
            </a:r>
          </a:p>
          <a:p>
            <a:pPr algn="l" marL="690897" indent="-345448" lvl="1">
              <a:lnSpc>
                <a:spcPts val="3360"/>
              </a:lnSpc>
              <a:buFont typeface="Arial"/>
              <a:buChar char="•"/>
            </a:pPr>
            <a:r>
              <a:rPr lang="en-US" sz="3200">
                <a:solidFill>
                  <a:srgbClr val="F1F8E9"/>
                </a:solidFill>
                <a:latin typeface="Poppins"/>
                <a:ea typeface="Poppins"/>
                <a:cs typeface="Poppins"/>
                <a:sym typeface="Poppins"/>
              </a:rPr>
              <a:t>Core Application Pages Built</a:t>
            </a:r>
          </a:p>
          <a:p>
            <a:pPr algn="l" marL="1381793" indent="-460598" lvl="2">
              <a:lnSpc>
                <a:spcPts val="3360"/>
              </a:lnSpc>
              <a:buFont typeface="Arial"/>
              <a:buChar char="⚬"/>
            </a:pPr>
            <a:r>
              <a:rPr lang="en-US" sz="3200">
                <a:solidFill>
                  <a:srgbClr val="F1F8E9"/>
                </a:solidFill>
                <a:latin typeface="Poppins"/>
                <a:ea typeface="Poppins"/>
                <a:cs typeface="Poppins"/>
                <a:sym typeface="Poppins"/>
              </a:rPr>
              <a:t>User profile &amp; landing page</a:t>
            </a:r>
          </a:p>
          <a:p>
            <a:pPr algn="l" marL="1381793" indent="-460598" lvl="2">
              <a:lnSpc>
                <a:spcPts val="3360"/>
              </a:lnSpc>
              <a:buFont typeface="Arial"/>
              <a:buChar char="⚬"/>
            </a:pPr>
            <a:r>
              <a:rPr lang="en-US" sz="3200">
                <a:solidFill>
                  <a:srgbClr val="F1F8E9"/>
                </a:solidFill>
                <a:latin typeface="Poppins"/>
                <a:ea typeface="Poppins"/>
                <a:cs typeface="Poppins"/>
                <a:sym typeface="Poppins"/>
              </a:rPr>
              <a:t>Authentication pages</a:t>
            </a:r>
          </a:p>
          <a:p>
            <a:pPr algn="l" marL="690897" indent="-345448" lvl="1">
              <a:lnSpc>
                <a:spcPts val="3360"/>
              </a:lnSpc>
              <a:buFont typeface="Arial"/>
              <a:buChar char="•"/>
            </a:pPr>
            <a:r>
              <a:rPr lang="en-US" sz="3200">
                <a:solidFill>
                  <a:srgbClr val="F1F8E9"/>
                </a:solidFill>
                <a:latin typeface="Poppins"/>
                <a:ea typeface="Poppins"/>
                <a:cs typeface="Poppins"/>
                <a:sym typeface="Poppins"/>
              </a:rPr>
              <a:t>AI Recommendation</a:t>
            </a:r>
          </a:p>
          <a:p>
            <a:pPr algn="l" marL="1381793" indent="-460598" lvl="2">
              <a:lnSpc>
                <a:spcPts val="3360"/>
              </a:lnSpc>
              <a:buFont typeface="Arial"/>
              <a:buChar char="⚬"/>
            </a:pPr>
            <a:r>
              <a:rPr lang="en-US" sz="3200">
                <a:solidFill>
                  <a:srgbClr val="F1F8E9"/>
                </a:solidFill>
                <a:latin typeface="Poppins"/>
                <a:ea typeface="Poppins"/>
                <a:cs typeface="Poppins"/>
                <a:sym typeface="Poppins"/>
              </a:rPr>
              <a:t>Functionality for hungry and craving buttons</a:t>
            </a:r>
          </a:p>
          <a:p>
            <a:pPr algn="l" marL="690897" indent="-345448" lvl="1">
              <a:lnSpc>
                <a:spcPts val="3360"/>
              </a:lnSpc>
              <a:buFont typeface="Arial"/>
              <a:buChar char="•"/>
            </a:pPr>
            <a:r>
              <a:rPr lang="en-US" sz="3200">
                <a:solidFill>
                  <a:srgbClr val="F1F8E9"/>
                </a:solidFill>
                <a:latin typeface="Poppins"/>
                <a:ea typeface="Poppins"/>
                <a:cs typeface="Poppins"/>
                <a:sym typeface="Poppins"/>
              </a:rPr>
              <a:t>User functionality</a:t>
            </a:r>
          </a:p>
          <a:p>
            <a:pPr algn="l" marL="1381793" indent="-460598" lvl="2">
              <a:lnSpc>
                <a:spcPts val="3360"/>
              </a:lnSpc>
              <a:buFont typeface="Arial"/>
              <a:buChar char="⚬"/>
            </a:pPr>
            <a:r>
              <a:rPr lang="en-US" sz="3200">
                <a:solidFill>
                  <a:srgbClr val="F1F8E9"/>
                </a:solidFill>
                <a:latin typeface="Poppins"/>
                <a:ea typeface="Poppins"/>
                <a:cs typeface="Poppins"/>
                <a:sym typeface="Poppins"/>
              </a:rPr>
              <a:t>Daily log</a:t>
            </a:r>
          </a:p>
          <a:p>
            <a:pPr algn="l" marL="1381793" indent="-460598" lvl="2">
              <a:lnSpc>
                <a:spcPts val="3360"/>
              </a:lnSpc>
              <a:buFont typeface="Arial"/>
              <a:buChar char="⚬"/>
            </a:pPr>
            <a:r>
              <a:rPr lang="en-US" sz="3200">
                <a:solidFill>
                  <a:srgbClr val="F1F8E9"/>
                </a:solidFill>
                <a:latin typeface="Poppins"/>
                <a:ea typeface="Poppins"/>
                <a:cs typeface="Poppins"/>
                <a:sym typeface="Poppins"/>
              </a:rPr>
              <a:t>Daily check-in</a:t>
            </a:r>
          </a:p>
          <a:p>
            <a:pPr algn="l" marL="1381793" indent="-460598" lvl="2">
              <a:lnSpc>
                <a:spcPts val="3360"/>
              </a:lnSpc>
              <a:buFont typeface="Arial"/>
              <a:buChar char="⚬"/>
            </a:pPr>
            <a:r>
              <a:rPr lang="en-US" sz="3200">
                <a:solidFill>
                  <a:srgbClr val="F1F8E9"/>
                </a:solidFill>
                <a:latin typeface="Poppins"/>
                <a:ea typeface="Poppins"/>
                <a:cs typeface="Poppins"/>
                <a:sym typeface="Poppins"/>
              </a:rPr>
              <a:t>BMI Calculator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98481" y="-389647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4"/>
                </a:lnTo>
                <a:lnTo>
                  <a:pt x="0" y="110662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-363526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3"/>
                </a:lnTo>
                <a:lnTo>
                  <a:pt x="0" y="110662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9190535">
            <a:off x="-1980178" y="-3645831"/>
            <a:ext cx="23857792" cy="16319974"/>
          </a:xfrm>
          <a:custGeom>
            <a:avLst/>
            <a:gdLst/>
            <a:ahLst/>
            <a:cxnLst/>
            <a:rect r="r" b="b" t="t" l="l"/>
            <a:pathLst>
              <a:path h="16319974" w="23857792">
                <a:moveTo>
                  <a:pt x="0" y="16319974"/>
                </a:moveTo>
                <a:lnTo>
                  <a:pt x="23857792" y="16319974"/>
                </a:lnTo>
                <a:lnTo>
                  <a:pt x="23857792" y="0"/>
                </a:lnTo>
                <a:lnTo>
                  <a:pt x="0" y="0"/>
                </a:lnTo>
                <a:lnTo>
                  <a:pt x="0" y="163199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2320349">
            <a:off x="3678037" y="11091107"/>
            <a:ext cx="20568324" cy="18074414"/>
          </a:xfrm>
          <a:custGeom>
            <a:avLst/>
            <a:gdLst/>
            <a:ahLst/>
            <a:cxnLst/>
            <a:rect r="r" b="b" t="t" l="l"/>
            <a:pathLst>
              <a:path h="18074414" w="20568324">
                <a:moveTo>
                  <a:pt x="20568323" y="18074415"/>
                </a:moveTo>
                <a:lnTo>
                  <a:pt x="0" y="18074415"/>
                </a:lnTo>
                <a:lnTo>
                  <a:pt x="0" y="0"/>
                </a:lnTo>
                <a:lnTo>
                  <a:pt x="20568323" y="0"/>
                </a:lnTo>
                <a:lnTo>
                  <a:pt x="20568323" y="18074415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562446" y="7724645"/>
            <a:ext cx="1393708" cy="2267869"/>
          </a:xfrm>
          <a:custGeom>
            <a:avLst/>
            <a:gdLst/>
            <a:ahLst/>
            <a:cxnLst/>
            <a:rect r="r" b="b" t="t" l="l"/>
            <a:pathLst>
              <a:path h="2267869" w="1393708">
                <a:moveTo>
                  <a:pt x="0" y="0"/>
                </a:moveTo>
                <a:lnTo>
                  <a:pt x="1393708" y="0"/>
                </a:lnTo>
                <a:lnTo>
                  <a:pt x="1393708" y="2267869"/>
                </a:lnTo>
                <a:lnTo>
                  <a:pt x="0" y="226786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15916" y="1891348"/>
            <a:ext cx="17103793" cy="7568428"/>
          </a:xfrm>
          <a:custGeom>
            <a:avLst/>
            <a:gdLst/>
            <a:ahLst/>
            <a:cxnLst/>
            <a:rect r="r" b="b" t="t" l="l"/>
            <a:pathLst>
              <a:path h="7568428" w="17103793">
                <a:moveTo>
                  <a:pt x="0" y="0"/>
                </a:moveTo>
                <a:lnTo>
                  <a:pt x="17103793" y="0"/>
                </a:lnTo>
                <a:lnTo>
                  <a:pt x="17103793" y="7568429"/>
                </a:lnTo>
                <a:lnTo>
                  <a:pt x="0" y="756842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781409" y="572453"/>
            <a:ext cx="13180789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6399" b="true">
                <a:solidFill>
                  <a:srgbClr val="F1F8E9"/>
                </a:solidFill>
                <a:latin typeface="Poppins Bold"/>
                <a:ea typeface="Poppins Bold"/>
                <a:cs typeface="Poppins Bold"/>
                <a:sym typeface="Poppins Bold"/>
              </a:rPr>
              <a:t>Sprint 2 Backlog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98481" y="-389647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4"/>
                </a:lnTo>
                <a:lnTo>
                  <a:pt x="0" y="110662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-363526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3"/>
                </a:lnTo>
                <a:lnTo>
                  <a:pt x="0" y="110662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9190535">
            <a:off x="-1980178" y="-3645831"/>
            <a:ext cx="23857792" cy="16319974"/>
          </a:xfrm>
          <a:custGeom>
            <a:avLst/>
            <a:gdLst/>
            <a:ahLst/>
            <a:cxnLst/>
            <a:rect r="r" b="b" t="t" l="l"/>
            <a:pathLst>
              <a:path h="16319974" w="23857792">
                <a:moveTo>
                  <a:pt x="0" y="16319974"/>
                </a:moveTo>
                <a:lnTo>
                  <a:pt x="23857792" y="16319974"/>
                </a:lnTo>
                <a:lnTo>
                  <a:pt x="23857792" y="0"/>
                </a:lnTo>
                <a:lnTo>
                  <a:pt x="0" y="0"/>
                </a:lnTo>
                <a:lnTo>
                  <a:pt x="0" y="163199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2320349">
            <a:off x="3678037" y="11091107"/>
            <a:ext cx="20568324" cy="18074414"/>
          </a:xfrm>
          <a:custGeom>
            <a:avLst/>
            <a:gdLst/>
            <a:ahLst/>
            <a:cxnLst/>
            <a:rect r="r" b="b" t="t" l="l"/>
            <a:pathLst>
              <a:path h="18074414" w="20568324">
                <a:moveTo>
                  <a:pt x="20568323" y="18074415"/>
                </a:moveTo>
                <a:lnTo>
                  <a:pt x="0" y="18074415"/>
                </a:lnTo>
                <a:lnTo>
                  <a:pt x="0" y="0"/>
                </a:lnTo>
                <a:lnTo>
                  <a:pt x="20568323" y="0"/>
                </a:lnTo>
                <a:lnTo>
                  <a:pt x="20568323" y="18074415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562446" y="7724645"/>
            <a:ext cx="1393708" cy="2267869"/>
          </a:xfrm>
          <a:custGeom>
            <a:avLst/>
            <a:gdLst/>
            <a:ahLst/>
            <a:cxnLst/>
            <a:rect r="r" b="b" t="t" l="l"/>
            <a:pathLst>
              <a:path h="2267869" w="1393708">
                <a:moveTo>
                  <a:pt x="0" y="0"/>
                </a:moveTo>
                <a:lnTo>
                  <a:pt x="1393708" y="0"/>
                </a:lnTo>
                <a:lnTo>
                  <a:pt x="1393708" y="2267869"/>
                </a:lnTo>
                <a:lnTo>
                  <a:pt x="0" y="226786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7" id="7"/>
          <p:cNvGraphicFramePr/>
          <p:nvPr/>
        </p:nvGraphicFramePr>
        <p:xfrm>
          <a:off x="592822" y="2419350"/>
          <a:ext cx="21269325" cy="5448300"/>
        </p:xfrm>
        <a:graphic>
          <a:graphicData uri="http://schemas.openxmlformats.org/presentationml/2006/ole">
            <p:oleObj imgW="25527000" imgH="9702800" r:id="rId10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9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8" id="8"/>
          <p:cNvSpPr txBox="true"/>
          <p:nvPr/>
        </p:nvSpPr>
        <p:spPr>
          <a:xfrm rot="0">
            <a:off x="1028700" y="880336"/>
            <a:ext cx="13180789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6399" b="true">
                <a:solidFill>
                  <a:srgbClr val="F1F8E9"/>
                </a:solidFill>
                <a:latin typeface="Poppins Bold"/>
                <a:ea typeface="Poppins Bold"/>
                <a:cs typeface="Poppins Bold"/>
                <a:sym typeface="Poppins Bold"/>
              </a:rPr>
              <a:t>Sprint 3 Planning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98481" y="-389647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4"/>
                </a:lnTo>
                <a:lnTo>
                  <a:pt x="0" y="110662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-363526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3"/>
                </a:lnTo>
                <a:lnTo>
                  <a:pt x="0" y="110662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9190535">
            <a:off x="-1980178" y="-3645831"/>
            <a:ext cx="23857792" cy="16319974"/>
          </a:xfrm>
          <a:custGeom>
            <a:avLst/>
            <a:gdLst/>
            <a:ahLst/>
            <a:cxnLst/>
            <a:rect r="r" b="b" t="t" l="l"/>
            <a:pathLst>
              <a:path h="16319974" w="23857792">
                <a:moveTo>
                  <a:pt x="0" y="16319974"/>
                </a:moveTo>
                <a:lnTo>
                  <a:pt x="23857792" y="16319974"/>
                </a:lnTo>
                <a:lnTo>
                  <a:pt x="23857792" y="0"/>
                </a:lnTo>
                <a:lnTo>
                  <a:pt x="0" y="0"/>
                </a:lnTo>
                <a:lnTo>
                  <a:pt x="0" y="163199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2320349">
            <a:off x="3678037" y="11091107"/>
            <a:ext cx="20568324" cy="18074414"/>
          </a:xfrm>
          <a:custGeom>
            <a:avLst/>
            <a:gdLst/>
            <a:ahLst/>
            <a:cxnLst/>
            <a:rect r="r" b="b" t="t" l="l"/>
            <a:pathLst>
              <a:path h="18074414" w="20568324">
                <a:moveTo>
                  <a:pt x="20568323" y="18074415"/>
                </a:moveTo>
                <a:lnTo>
                  <a:pt x="0" y="18074415"/>
                </a:lnTo>
                <a:lnTo>
                  <a:pt x="0" y="0"/>
                </a:lnTo>
                <a:lnTo>
                  <a:pt x="20568323" y="0"/>
                </a:lnTo>
                <a:lnTo>
                  <a:pt x="20568323" y="18074415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562446" y="7724645"/>
            <a:ext cx="1393708" cy="2267869"/>
          </a:xfrm>
          <a:custGeom>
            <a:avLst/>
            <a:gdLst/>
            <a:ahLst/>
            <a:cxnLst/>
            <a:rect r="r" b="b" t="t" l="l"/>
            <a:pathLst>
              <a:path h="2267869" w="1393708">
                <a:moveTo>
                  <a:pt x="0" y="0"/>
                </a:moveTo>
                <a:lnTo>
                  <a:pt x="1393708" y="0"/>
                </a:lnTo>
                <a:lnTo>
                  <a:pt x="1393708" y="2267869"/>
                </a:lnTo>
                <a:lnTo>
                  <a:pt x="0" y="226786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7" id="7"/>
          <p:cNvGraphicFramePr/>
          <p:nvPr/>
        </p:nvGraphicFramePr>
        <p:xfrm>
          <a:off x="285979" y="2628900"/>
          <a:ext cx="21269325" cy="5029200"/>
        </p:xfrm>
        <a:graphic>
          <a:graphicData uri="http://schemas.openxmlformats.org/presentationml/2006/ole">
            <p:oleObj imgW="25527000" imgH="9283700" r:id="rId10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9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8" id="8"/>
          <p:cNvSpPr txBox="true"/>
          <p:nvPr/>
        </p:nvSpPr>
        <p:spPr>
          <a:xfrm rot="0">
            <a:off x="1249680" y="572453"/>
            <a:ext cx="13180789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6399" b="true">
                <a:solidFill>
                  <a:srgbClr val="F1F8E9"/>
                </a:solidFill>
                <a:latin typeface="Poppins Bold"/>
                <a:ea typeface="Poppins Bold"/>
                <a:cs typeface="Poppins Bold"/>
                <a:sym typeface="Poppins Bold"/>
              </a:rPr>
              <a:t>Product Backlog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98481" y="-389647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4"/>
                </a:lnTo>
                <a:lnTo>
                  <a:pt x="0" y="110662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-363526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3"/>
                </a:lnTo>
                <a:lnTo>
                  <a:pt x="0" y="110662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9190535">
            <a:off x="-1980178" y="-3645831"/>
            <a:ext cx="23857792" cy="16319974"/>
          </a:xfrm>
          <a:custGeom>
            <a:avLst/>
            <a:gdLst/>
            <a:ahLst/>
            <a:cxnLst/>
            <a:rect r="r" b="b" t="t" l="l"/>
            <a:pathLst>
              <a:path h="16319974" w="23857792">
                <a:moveTo>
                  <a:pt x="0" y="16319974"/>
                </a:moveTo>
                <a:lnTo>
                  <a:pt x="23857792" y="16319974"/>
                </a:lnTo>
                <a:lnTo>
                  <a:pt x="23857792" y="0"/>
                </a:lnTo>
                <a:lnTo>
                  <a:pt x="0" y="0"/>
                </a:lnTo>
                <a:lnTo>
                  <a:pt x="0" y="163199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2320349">
            <a:off x="3678037" y="11091107"/>
            <a:ext cx="20568324" cy="18074414"/>
          </a:xfrm>
          <a:custGeom>
            <a:avLst/>
            <a:gdLst/>
            <a:ahLst/>
            <a:cxnLst/>
            <a:rect r="r" b="b" t="t" l="l"/>
            <a:pathLst>
              <a:path h="18074414" w="20568324">
                <a:moveTo>
                  <a:pt x="20568323" y="18074415"/>
                </a:moveTo>
                <a:lnTo>
                  <a:pt x="0" y="18074415"/>
                </a:lnTo>
                <a:lnTo>
                  <a:pt x="0" y="0"/>
                </a:lnTo>
                <a:lnTo>
                  <a:pt x="20568323" y="0"/>
                </a:lnTo>
                <a:lnTo>
                  <a:pt x="20568323" y="18074415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562446" y="7724645"/>
            <a:ext cx="1393708" cy="2267869"/>
          </a:xfrm>
          <a:custGeom>
            <a:avLst/>
            <a:gdLst/>
            <a:ahLst/>
            <a:cxnLst/>
            <a:rect r="r" b="b" t="t" l="l"/>
            <a:pathLst>
              <a:path h="2267869" w="1393708">
                <a:moveTo>
                  <a:pt x="0" y="0"/>
                </a:moveTo>
                <a:lnTo>
                  <a:pt x="1393708" y="0"/>
                </a:lnTo>
                <a:lnTo>
                  <a:pt x="1393708" y="2267869"/>
                </a:lnTo>
                <a:lnTo>
                  <a:pt x="0" y="226786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7" id="7"/>
          <p:cNvGraphicFramePr/>
          <p:nvPr/>
        </p:nvGraphicFramePr>
        <p:xfrm>
          <a:off x="444818" y="2628900"/>
          <a:ext cx="21269325" cy="5029200"/>
        </p:xfrm>
        <a:graphic>
          <a:graphicData uri="http://schemas.openxmlformats.org/presentationml/2006/ole">
            <p:oleObj imgW="25527000" imgH="9283700" r:id="rId10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9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8" id="8"/>
          <p:cNvSpPr txBox="true"/>
          <p:nvPr/>
        </p:nvSpPr>
        <p:spPr>
          <a:xfrm rot="0">
            <a:off x="1496357" y="1057275"/>
            <a:ext cx="13180789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6399" b="true">
                <a:solidFill>
                  <a:srgbClr val="F1F8E9"/>
                </a:solidFill>
                <a:latin typeface="Poppins Bold"/>
                <a:ea typeface="Poppins Bold"/>
                <a:cs typeface="Poppins Bold"/>
                <a:sym typeface="Poppins Bold"/>
              </a:rPr>
              <a:t>Product Backlog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98481" y="-389647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4"/>
                </a:lnTo>
                <a:lnTo>
                  <a:pt x="0" y="110662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-363526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3"/>
                </a:lnTo>
                <a:lnTo>
                  <a:pt x="0" y="110662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9190535">
            <a:off x="-1980178" y="-3645831"/>
            <a:ext cx="23857792" cy="16319974"/>
          </a:xfrm>
          <a:custGeom>
            <a:avLst/>
            <a:gdLst/>
            <a:ahLst/>
            <a:cxnLst/>
            <a:rect r="r" b="b" t="t" l="l"/>
            <a:pathLst>
              <a:path h="16319974" w="23857792">
                <a:moveTo>
                  <a:pt x="0" y="16319974"/>
                </a:moveTo>
                <a:lnTo>
                  <a:pt x="23857792" y="16319974"/>
                </a:lnTo>
                <a:lnTo>
                  <a:pt x="23857792" y="0"/>
                </a:lnTo>
                <a:lnTo>
                  <a:pt x="0" y="0"/>
                </a:lnTo>
                <a:lnTo>
                  <a:pt x="0" y="163199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2320349">
            <a:off x="3678037" y="11091107"/>
            <a:ext cx="20568324" cy="18074414"/>
          </a:xfrm>
          <a:custGeom>
            <a:avLst/>
            <a:gdLst/>
            <a:ahLst/>
            <a:cxnLst/>
            <a:rect r="r" b="b" t="t" l="l"/>
            <a:pathLst>
              <a:path h="18074414" w="20568324">
                <a:moveTo>
                  <a:pt x="20568323" y="18074415"/>
                </a:moveTo>
                <a:lnTo>
                  <a:pt x="0" y="18074415"/>
                </a:lnTo>
                <a:lnTo>
                  <a:pt x="0" y="0"/>
                </a:lnTo>
                <a:lnTo>
                  <a:pt x="20568323" y="0"/>
                </a:lnTo>
                <a:lnTo>
                  <a:pt x="20568323" y="18074415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562446" y="7724645"/>
            <a:ext cx="1393708" cy="2267869"/>
          </a:xfrm>
          <a:custGeom>
            <a:avLst/>
            <a:gdLst/>
            <a:ahLst/>
            <a:cxnLst/>
            <a:rect r="r" b="b" t="t" l="l"/>
            <a:pathLst>
              <a:path h="2267869" w="1393708">
                <a:moveTo>
                  <a:pt x="0" y="0"/>
                </a:moveTo>
                <a:lnTo>
                  <a:pt x="1393708" y="0"/>
                </a:lnTo>
                <a:lnTo>
                  <a:pt x="1393708" y="2267869"/>
                </a:lnTo>
                <a:lnTo>
                  <a:pt x="0" y="226786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7" id="7"/>
          <p:cNvGraphicFramePr/>
          <p:nvPr/>
        </p:nvGraphicFramePr>
        <p:xfrm>
          <a:off x="285979" y="2628900"/>
          <a:ext cx="21269325" cy="5029200"/>
        </p:xfrm>
        <a:graphic>
          <a:graphicData uri="http://schemas.openxmlformats.org/presentationml/2006/ole">
            <p:oleObj imgW="25527000" imgH="9283700" r:id="rId10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9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8" id="8"/>
          <p:cNvSpPr txBox="true"/>
          <p:nvPr/>
        </p:nvSpPr>
        <p:spPr>
          <a:xfrm rot="0">
            <a:off x="1600200" y="1725522"/>
            <a:ext cx="13180789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6399" b="true">
                <a:solidFill>
                  <a:srgbClr val="F1F8E9"/>
                </a:solidFill>
                <a:latin typeface="Poppins Bold"/>
                <a:ea typeface="Poppins Bold"/>
                <a:cs typeface="Poppins Bold"/>
                <a:sym typeface="Poppins Bold"/>
              </a:rPr>
              <a:t>Product Backlog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98481" y="-389647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4"/>
                </a:lnTo>
                <a:lnTo>
                  <a:pt x="0" y="110662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-363526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3"/>
                </a:lnTo>
                <a:lnTo>
                  <a:pt x="0" y="110662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9190535">
            <a:off x="-1980178" y="-3645831"/>
            <a:ext cx="23857792" cy="16319974"/>
          </a:xfrm>
          <a:custGeom>
            <a:avLst/>
            <a:gdLst/>
            <a:ahLst/>
            <a:cxnLst/>
            <a:rect r="r" b="b" t="t" l="l"/>
            <a:pathLst>
              <a:path h="16319974" w="23857792">
                <a:moveTo>
                  <a:pt x="0" y="16319974"/>
                </a:moveTo>
                <a:lnTo>
                  <a:pt x="23857792" y="16319974"/>
                </a:lnTo>
                <a:lnTo>
                  <a:pt x="23857792" y="0"/>
                </a:lnTo>
                <a:lnTo>
                  <a:pt x="0" y="0"/>
                </a:lnTo>
                <a:lnTo>
                  <a:pt x="0" y="163199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2320349">
            <a:off x="3678037" y="11091107"/>
            <a:ext cx="20568324" cy="18074414"/>
          </a:xfrm>
          <a:custGeom>
            <a:avLst/>
            <a:gdLst/>
            <a:ahLst/>
            <a:cxnLst/>
            <a:rect r="r" b="b" t="t" l="l"/>
            <a:pathLst>
              <a:path h="18074414" w="20568324">
                <a:moveTo>
                  <a:pt x="20568323" y="18074415"/>
                </a:moveTo>
                <a:lnTo>
                  <a:pt x="0" y="18074415"/>
                </a:lnTo>
                <a:lnTo>
                  <a:pt x="0" y="0"/>
                </a:lnTo>
                <a:lnTo>
                  <a:pt x="20568323" y="0"/>
                </a:lnTo>
                <a:lnTo>
                  <a:pt x="20568323" y="18074415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562446" y="7724645"/>
            <a:ext cx="1393708" cy="2267869"/>
          </a:xfrm>
          <a:custGeom>
            <a:avLst/>
            <a:gdLst/>
            <a:ahLst/>
            <a:cxnLst/>
            <a:rect r="r" b="b" t="t" l="l"/>
            <a:pathLst>
              <a:path h="2267869" w="1393708">
                <a:moveTo>
                  <a:pt x="0" y="0"/>
                </a:moveTo>
                <a:lnTo>
                  <a:pt x="1393708" y="0"/>
                </a:lnTo>
                <a:lnTo>
                  <a:pt x="1393708" y="2267869"/>
                </a:lnTo>
                <a:lnTo>
                  <a:pt x="0" y="226786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589284" y="3605870"/>
            <a:ext cx="9157056" cy="5757499"/>
          </a:xfrm>
          <a:custGeom>
            <a:avLst/>
            <a:gdLst/>
            <a:ahLst/>
            <a:cxnLst/>
            <a:rect r="r" b="b" t="t" l="l"/>
            <a:pathLst>
              <a:path h="5757499" w="9157056">
                <a:moveTo>
                  <a:pt x="0" y="0"/>
                </a:moveTo>
                <a:lnTo>
                  <a:pt x="9157057" y="0"/>
                </a:lnTo>
                <a:lnTo>
                  <a:pt x="9157057" y="5757500"/>
                </a:lnTo>
                <a:lnTo>
                  <a:pt x="0" y="57575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068954" y="2329226"/>
            <a:ext cx="13180789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6399" b="true">
                <a:solidFill>
                  <a:srgbClr val="F1F8E9"/>
                </a:solidFill>
                <a:latin typeface="Poppins Bold"/>
                <a:ea typeface="Poppins Bold"/>
                <a:cs typeface="Poppins Bold"/>
                <a:sym typeface="Poppins Bold"/>
              </a:rPr>
              <a:t>Sprint 2 - Team Velocity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98481" y="-389647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4"/>
                </a:lnTo>
                <a:lnTo>
                  <a:pt x="0" y="110662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-363526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3"/>
                </a:lnTo>
                <a:lnTo>
                  <a:pt x="0" y="110662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9190535">
            <a:off x="-1980178" y="-3645831"/>
            <a:ext cx="23857792" cy="16319974"/>
          </a:xfrm>
          <a:custGeom>
            <a:avLst/>
            <a:gdLst/>
            <a:ahLst/>
            <a:cxnLst/>
            <a:rect r="r" b="b" t="t" l="l"/>
            <a:pathLst>
              <a:path h="16319974" w="23857792">
                <a:moveTo>
                  <a:pt x="0" y="16319974"/>
                </a:moveTo>
                <a:lnTo>
                  <a:pt x="23857792" y="16319974"/>
                </a:lnTo>
                <a:lnTo>
                  <a:pt x="23857792" y="0"/>
                </a:lnTo>
                <a:lnTo>
                  <a:pt x="0" y="0"/>
                </a:lnTo>
                <a:lnTo>
                  <a:pt x="0" y="163199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2320349">
            <a:off x="3678037" y="11091107"/>
            <a:ext cx="20568324" cy="18074414"/>
          </a:xfrm>
          <a:custGeom>
            <a:avLst/>
            <a:gdLst/>
            <a:ahLst/>
            <a:cxnLst/>
            <a:rect r="r" b="b" t="t" l="l"/>
            <a:pathLst>
              <a:path h="18074414" w="20568324">
                <a:moveTo>
                  <a:pt x="20568323" y="18074415"/>
                </a:moveTo>
                <a:lnTo>
                  <a:pt x="0" y="18074415"/>
                </a:lnTo>
                <a:lnTo>
                  <a:pt x="0" y="0"/>
                </a:lnTo>
                <a:lnTo>
                  <a:pt x="20568323" y="0"/>
                </a:lnTo>
                <a:lnTo>
                  <a:pt x="20568323" y="18074415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562446" y="7724645"/>
            <a:ext cx="1393708" cy="2267869"/>
          </a:xfrm>
          <a:custGeom>
            <a:avLst/>
            <a:gdLst/>
            <a:ahLst/>
            <a:cxnLst/>
            <a:rect r="r" b="b" t="t" l="l"/>
            <a:pathLst>
              <a:path h="2267869" w="1393708">
                <a:moveTo>
                  <a:pt x="0" y="0"/>
                </a:moveTo>
                <a:lnTo>
                  <a:pt x="1393708" y="0"/>
                </a:lnTo>
                <a:lnTo>
                  <a:pt x="1393708" y="2267869"/>
                </a:lnTo>
                <a:lnTo>
                  <a:pt x="0" y="226786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530172" y="3660800"/>
            <a:ext cx="9275282" cy="5739081"/>
          </a:xfrm>
          <a:custGeom>
            <a:avLst/>
            <a:gdLst/>
            <a:ahLst/>
            <a:cxnLst/>
            <a:rect r="r" b="b" t="t" l="l"/>
            <a:pathLst>
              <a:path h="5739081" w="9275282">
                <a:moveTo>
                  <a:pt x="0" y="0"/>
                </a:moveTo>
                <a:lnTo>
                  <a:pt x="9275281" y="0"/>
                </a:lnTo>
                <a:lnTo>
                  <a:pt x="9275281" y="5739080"/>
                </a:lnTo>
                <a:lnTo>
                  <a:pt x="0" y="573908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068954" y="2329226"/>
            <a:ext cx="13180789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6399" b="true">
                <a:solidFill>
                  <a:srgbClr val="F1F8E9"/>
                </a:solidFill>
                <a:latin typeface="Poppins Bold"/>
                <a:ea typeface="Poppins Bold"/>
                <a:cs typeface="Poppins Bold"/>
                <a:sym typeface="Poppins Bold"/>
              </a:rPr>
              <a:t>Average Team Velocity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98481" y="-389647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4"/>
                </a:lnTo>
                <a:lnTo>
                  <a:pt x="0" y="110662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-363526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3"/>
                </a:lnTo>
                <a:lnTo>
                  <a:pt x="0" y="110662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9190535">
            <a:off x="-1980178" y="-3645831"/>
            <a:ext cx="23857792" cy="16319974"/>
          </a:xfrm>
          <a:custGeom>
            <a:avLst/>
            <a:gdLst/>
            <a:ahLst/>
            <a:cxnLst/>
            <a:rect r="r" b="b" t="t" l="l"/>
            <a:pathLst>
              <a:path h="16319974" w="23857792">
                <a:moveTo>
                  <a:pt x="0" y="16319974"/>
                </a:moveTo>
                <a:lnTo>
                  <a:pt x="23857792" y="16319974"/>
                </a:lnTo>
                <a:lnTo>
                  <a:pt x="23857792" y="0"/>
                </a:lnTo>
                <a:lnTo>
                  <a:pt x="0" y="0"/>
                </a:lnTo>
                <a:lnTo>
                  <a:pt x="0" y="163199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2320349">
            <a:off x="3678037" y="11091107"/>
            <a:ext cx="20568324" cy="18074414"/>
          </a:xfrm>
          <a:custGeom>
            <a:avLst/>
            <a:gdLst/>
            <a:ahLst/>
            <a:cxnLst/>
            <a:rect r="r" b="b" t="t" l="l"/>
            <a:pathLst>
              <a:path h="18074414" w="20568324">
                <a:moveTo>
                  <a:pt x="20568323" y="18074415"/>
                </a:moveTo>
                <a:lnTo>
                  <a:pt x="0" y="18074415"/>
                </a:lnTo>
                <a:lnTo>
                  <a:pt x="0" y="0"/>
                </a:lnTo>
                <a:lnTo>
                  <a:pt x="20568323" y="0"/>
                </a:lnTo>
                <a:lnTo>
                  <a:pt x="20568323" y="18074415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562446" y="7724645"/>
            <a:ext cx="1393708" cy="2267869"/>
          </a:xfrm>
          <a:custGeom>
            <a:avLst/>
            <a:gdLst/>
            <a:ahLst/>
            <a:cxnLst/>
            <a:rect r="r" b="b" t="t" l="l"/>
            <a:pathLst>
              <a:path h="2267869" w="1393708">
                <a:moveTo>
                  <a:pt x="0" y="0"/>
                </a:moveTo>
                <a:lnTo>
                  <a:pt x="1393708" y="0"/>
                </a:lnTo>
                <a:lnTo>
                  <a:pt x="1393708" y="2267869"/>
                </a:lnTo>
                <a:lnTo>
                  <a:pt x="0" y="226786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545118" y="3514602"/>
            <a:ext cx="9245389" cy="5743698"/>
          </a:xfrm>
          <a:custGeom>
            <a:avLst/>
            <a:gdLst/>
            <a:ahLst/>
            <a:cxnLst/>
            <a:rect r="r" b="b" t="t" l="l"/>
            <a:pathLst>
              <a:path h="5743698" w="9245389">
                <a:moveTo>
                  <a:pt x="0" y="0"/>
                </a:moveTo>
                <a:lnTo>
                  <a:pt x="9245389" y="0"/>
                </a:lnTo>
                <a:lnTo>
                  <a:pt x="9245389" y="5743698"/>
                </a:lnTo>
                <a:lnTo>
                  <a:pt x="0" y="574369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068954" y="2329226"/>
            <a:ext cx="13180789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6399" b="true">
                <a:solidFill>
                  <a:srgbClr val="F1F8E9"/>
                </a:solidFill>
                <a:latin typeface="Poppins Bold"/>
                <a:ea typeface="Poppins Bold"/>
                <a:cs typeface="Poppins Bold"/>
                <a:sym typeface="Poppins Bold"/>
              </a:rPr>
              <a:t>Sprint 2 Burndown Chart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98481" y="-389647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4"/>
                </a:lnTo>
                <a:lnTo>
                  <a:pt x="0" y="110662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-363526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3"/>
                </a:lnTo>
                <a:lnTo>
                  <a:pt x="0" y="110662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9190535">
            <a:off x="-1980178" y="-3645831"/>
            <a:ext cx="23857792" cy="16319974"/>
          </a:xfrm>
          <a:custGeom>
            <a:avLst/>
            <a:gdLst/>
            <a:ahLst/>
            <a:cxnLst/>
            <a:rect r="r" b="b" t="t" l="l"/>
            <a:pathLst>
              <a:path h="16319974" w="23857792">
                <a:moveTo>
                  <a:pt x="0" y="16319974"/>
                </a:moveTo>
                <a:lnTo>
                  <a:pt x="23857792" y="16319974"/>
                </a:lnTo>
                <a:lnTo>
                  <a:pt x="23857792" y="0"/>
                </a:lnTo>
                <a:lnTo>
                  <a:pt x="0" y="0"/>
                </a:lnTo>
                <a:lnTo>
                  <a:pt x="0" y="163199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2320349">
            <a:off x="3678037" y="11091107"/>
            <a:ext cx="20568324" cy="18074414"/>
          </a:xfrm>
          <a:custGeom>
            <a:avLst/>
            <a:gdLst/>
            <a:ahLst/>
            <a:cxnLst/>
            <a:rect r="r" b="b" t="t" l="l"/>
            <a:pathLst>
              <a:path h="18074414" w="20568324">
                <a:moveTo>
                  <a:pt x="20568323" y="18074415"/>
                </a:moveTo>
                <a:lnTo>
                  <a:pt x="0" y="18074415"/>
                </a:lnTo>
                <a:lnTo>
                  <a:pt x="0" y="0"/>
                </a:lnTo>
                <a:lnTo>
                  <a:pt x="20568323" y="0"/>
                </a:lnTo>
                <a:lnTo>
                  <a:pt x="20568323" y="18074415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562446" y="7724645"/>
            <a:ext cx="1393708" cy="2267869"/>
          </a:xfrm>
          <a:custGeom>
            <a:avLst/>
            <a:gdLst/>
            <a:ahLst/>
            <a:cxnLst/>
            <a:rect r="r" b="b" t="t" l="l"/>
            <a:pathLst>
              <a:path h="2267869" w="1393708">
                <a:moveTo>
                  <a:pt x="0" y="0"/>
                </a:moveTo>
                <a:lnTo>
                  <a:pt x="1393708" y="0"/>
                </a:lnTo>
                <a:lnTo>
                  <a:pt x="1393708" y="2267869"/>
                </a:lnTo>
                <a:lnTo>
                  <a:pt x="0" y="226786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536139" y="3772295"/>
            <a:ext cx="9215722" cy="5748307"/>
          </a:xfrm>
          <a:custGeom>
            <a:avLst/>
            <a:gdLst/>
            <a:ahLst/>
            <a:cxnLst/>
            <a:rect r="r" b="b" t="t" l="l"/>
            <a:pathLst>
              <a:path h="5748307" w="9215722">
                <a:moveTo>
                  <a:pt x="0" y="0"/>
                </a:moveTo>
                <a:lnTo>
                  <a:pt x="9215722" y="0"/>
                </a:lnTo>
                <a:lnTo>
                  <a:pt x="9215722" y="5748307"/>
                </a:lnTo>
                <a:lnTo>
                  <a:pt x="0" y="574830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068954" y="2329226"/>
            <a:ext cx="13180789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6399" b="true">
                <a:solidFill>
                  <a:srgbClr val="F1F8E9"/>
                </a:solidFill>
                <a:latin typeface="Poppins Bold"/>
                <a:ea typeface="Poppins Bold"/>
                <a:cs typeface="Poppins Bold"/>
                <a:sym typeface="Poppins Bold"/>
              </a:rPr>
              <a:t>Average Burndown Chart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44000" y="-363526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3"/>
                </a:lnTo>
                <a:lnTo>
                  <a:pt x="0" y="110662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9190535">
            <a:off x="-1980178" y="-3645831"/>
            <a:ext cx="23857792" cy="16319974"/>
          </a:xfrm>
          <a:custGeom>
            <a:avLst/>
            <a:gdLst/>
            <a:ahLst/>
            <a:cxnLst/>
            <a:rect r="r" b="b" t="t" l="l"/>
            <a:pathLst>
              <a:path h="16319974" w="23857792">
                <a:moveTo>
                  <a:pt x="0" y="16319974"/>
                </a:moveTo>
                <a:lnTo>
                  <a:pt x="23857792" y="16319974"/>
                </a:lnTo>
                <a:lnTo>
                  <a:pt x="23857792" y="0"/>
                </a:lnTo>
                <a:lnTo>
                  <a:pt x="0" y="0"/>
                </a:lnTo>
                <a:lnTo>
                  <a:pt x="0" y="163199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2320349">
            <a:off x="3678037" y="11091107"/>
            <a:ext cx="20568324" cy="18074414"/>
          </a:xfrm>
          <a:custGeom>
            <a:avLst/>
            <a:gdLst/>
            <a:ahLst/>
            <a:cxnLst/>
            <a:rect r="r" b="b" t="t" l="l"/>
            <a:pathLst>
              <a:path h="18074414" w="20568324">
                <a:moveTo>
                  <a:pt x="20568323" y="18074415"/>
                </a:moveTo>
                <a:lnTo>
                  <a:pt x="0" y="18074415"/>
                </a:lnTo>
                <a:lnTo>
                  <a:pt x="0" y="0"/>
                </a:lnTo>
                <a:lnTo>
                  <a:pt x="20568323" y="0"/>
                </a:lnTo>
                <a:lnTo>
                  <a:pt x="20568323" y="18074415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562446" y="7724645"/>
            <a:ext cx="1393708" cy="2267869"/>
          </a:xfrm>
          <a:custGeom>
            <a:avLst/>
            <a:gdLst/>
            <a:ahLst/>
            <a:cxnLst/>
            <a:rect r="r" b="b" t="t" l="l"/>
            <a:pathLst>
              <a:path h="2267869" w="1393708">
                <a:moveTo>
                  <a:pt x="0" y="0"/>
                </a:moveTo>
                <a:lnTo>
                  <a:pt x="1393708" y="0"/>
                </a:lnTo>
                <a:lnTo>
                  <a:pt x="1393708" y="2267869"/>
                </a:lnTo>
                <a:lnTo>
                  <a:pt x="0" y="226786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493371" y="3498163"/>
            <a:ext cx="11301259" cy="6159186"/>
          </a:xfrm>
          <a:custGeom>
            <a:avLst/>
            <a:gdLst/>
            <a:ahLst/>
            <a:cxnLst/>
            <a:rect r="r" b="b" t="t" l="l"/>
            <a:pathLst>
              <a:path h="6159186" w="11301259">
                <a:moveTo>
                  <a:pt x="0" y="0"/>
                </a:moveTo>
                <a:lnTo>
                  <a:pt x="11301258" y="0"/>
                </a:lnTo>
                <a:lnTo>
                  <a:pt x="11301258" y="6159186"/>
                </a:lnTo>
                <a:lnTo>
                  <a:pt x="0" y="615918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068954" y="2329226"/>
            <a:ext cx="11406622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6399" b="true">
                <a:solidFill>
                  <a:srgbClr val="F1F8E9"/>
                </a:solidFill>
                <a:latin typeface="Poppins Bold"/>
                <a:ea typeface="Poppins Bold"/>
                <a:cs typeface="Poppins Bold"/>
                <a:sym typeface="Poppins Bold"/>
              </a:rPr>
              <a:t>Sprint Retrospective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403858" y="-563088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3"/>
                </a:lnTo>
                <a:lnTo>
                  <a:pt x="0" y="110662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-363526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3"/>
                </a:lnTo>
                <a:lnTo>
                  <a:pt x="0" y="110662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-8871820">
            <a:off x="-3269275" y="-3602232"/>
            <a:ext cx="23125946" cy="15819353"/>
          </a:xfrm>
          <a:custGeom>
            <a:avLst/>
            <a:gdLst/>
            <a:ahLst/>
            <a:cxnLst/>
            <a:rect r="r" b="b" t="t" l="l"/>
            <a:pathLst>
              <a:path h="15819353" w="23125946">
                <a:moveTo>
                  <a:pt x="23125946" y="15819353"/>
                </a:moveTo>
                <a:lnTo>
                  <a:pt x="0" y="15819353"/>
                </a:lnTo>
                <a:lnTo>
                  <a:pt x="0" y="0"/>
                </a:lnTo>
                <a:lnTo>
                  <a:pt x="23125946" y="0"/>
                </a:lnTo>
                <a:lnTo>
                  <a:pt x="23125946" y="1581935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2320349">
            <a:off x="3678037" y="11091107"/>
            <a:ext cx="20568324" cy="18074414"/>
          </a:xfrm>
          <a:custGeom>
            <a:avLst/>
            <a:gdLst/>
            <a:ahLst/>
            <a:cxnLst/>
            <a:rect r="r" b="b" t="t" l="l"/>
            <a:pathLst>
              <a:path h="18074414" w="20568324">
                <a:moveTo>
                  <a:pt x="20568323" y="18074415"/>
                </a:moveTo>
                <a:lnTo>
                  <a:pt x="0" y="18074415"/>
                </a:lnTo>
                <a:lnTo>
                  <a:pt x="0" y="0"/>
                </a:lnTo>
                <a:lnTo>
                  <a:pt x="20568323" y="0"/>
                </a:lnTo>
                <a:lnTo>
                  <a:pt x="20568323" y="18074415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837041" y="7507468"/>
            <a:ext cx="4246041" cy="4114800"/>
          </a:xfrm>
          <a:custGeom>
            <a:avLst/>
            <a:gdLst/>
            <a:ahLst/>
            <a:cxnLst/>
            <a:rect r="r" b="b" t="t" l="l"/>
            <a:pathLst>
              <a:path h="4114800" w="4246041">
                <a:moveTo>
                  <a:pt x="0" y="0"/>
                </a:moveTo>
                <a:lnTo>
                  <a:pt x="4246041" y="0"/>
                </a:lnTo>
                <a:lnTo>
                  <a:pt x="42460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068954" y="2329226"/>
            <a:ext cx="13811780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6399" b="true">
                <a:solidFill>
                  <a:srgbClr val="F1F8E9"/>
                </a:solidFill>
                <a:latin typeface="Poppins Bold"/>
                <a:ea typeface="Poppins Bold"/>
                <a:cs typeface="Poppins Bold"/>
                <a:sym typeface="Poppins Bold"/>
              </a:rPr>
              <a:t>AI Disclosure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838222" y="3441594"/>
            <a:ext cx="6601614" cy="4178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9"/>
              </a:lnSpc>
            </a:pPr>
            <a:r>
              <a:rPr lang="en-US" sz="2370" b="true">
                <a:solidFill>
                  <a:srgbClr val="F1F8E9"/>
                </a:solidFill>
                <a:latin typeface="Nunito Bold"/>
                <a:ea typeface="Nunito Bold"/>
                <a:cs typeface="Nunito Bold"/>
                <a:sym typeface="Nunito Bold"/>
              </a:rPr>
              <a:t>AI Was Used To:</a:t>
            </a:r>
          </a:p>
          <a:p>
            <a:pPr algn="l" marL="511863" indent="-255931" lvl="1">
              <a:lnSpc>
                <a:spcPts val="3319"/>
              </a:lnSpc>
              <a:buFont typeface="Arial"/>
              <a:buChar char="•"/>
            </a:pPr>
            <a:r>
              <a:rPr lang="en-US" sz="237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Rapidly prototype screens</a:t>
            </a:r>
          </a:p>
          <a:p>
            <a:pPr algn="l" marL="511863" indent="-255931" lvl="1">
              <a:lnSpc>
                <a:spcPts val="3319"/>
              </a:lnSpc>
              <a:buFont typeface="Arial"/>
              <a:buChar char="•"/>
            </a:pPr>
            <a:r>
              <a:rPr lang="en-US" sz="237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Provide answers on language’s syntax or usage</a:t>
            </a:r>
          </a:p>
          <a:p>
            <a:pPr algn="l">
              <a:lnSpc>
                <a:spcPts val="3319"/>
              </a:lnSpc>
            </a:pPr>
            <a:r>
              <a:rPr lang="en-US" sz="2370" b="true">
                <a:solidFill>
                  <a:srgbClr val="F1F8E9"/>
                </a:solidFill>
                <a:latin typeface="Nunito Bold"/>
                <a:ea typeface="Nunito Bold"/>
                <a:cs typeface="Nunito Bold"/>
                <a:sym typeface="Nunito Bold"/>
              </a:rPr>
              <a:t>AI Was NOT Used To:</a:t>
            </a:r>
          </a:p>
          <a:p>
            <a:pPr algn="l" marL="511863" indent="-255931" lvl="1">
              <a:lnSpc>
                <a:spcPts val="3319"/>
              </a:lnSpc>
              <a:buFont typeface="Arial"/>
              <a:buChar char="•"/>
            </a:pPr>
            <a:r>
              <a:rPr lang="en-US" sz="237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Generate ideas or features</a:t>
            </a:r>
          </a:p>
          <a:p>
            <a:pPr algn="l" marL="511863" indent="-255931" lvl="1">
              <a:lnSpc>
                <a:spcPts val="3319"/>
              </a:lnSpc>
              <a:buFont typeface="Arial"/>
              <a:buChar char="•"/>
            </a:pPr>
            <a:r>
              <a:rPr lang="en-US" sz="237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Develop overall tech stack or flow between different components of the tech stack</a:t>
            </a:r>
          </a:p>
          <a:p>
            <a:pPr algn="l" marL="511863" indent="-255931" lvl="1">
              <a:lnSpc>
                <a:spcPts val="3319"/>
              </a:lnSpc>
              <a:buFont typeface="Arial"/>
              <a:buChar char="•"/>
            </a:pPr>
            <a:r>
              <a:rPr lang="en-US" sz="237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Design key algorithms for NutriAI</a:t>
            </a:r>
          </a:p>
          <a:p>
            <a:pPr algn="l">
              <a:lnSpc>
                <a:spcPts val="3319"/>
              </a:lnSpc>
            </a:pP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403858" y="-563088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3"/>
                </a:lnTo>
                <a:lnTo>
                  <a:pt x="0" y="110662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-363526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3"/>
                </a:lnTo>
                <a:lnTo>
                  <a:pt x="0" y="110662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-8871820">
            <a:off x="-3269275" y="-3602232"/>
            <a:ext cx="23125946" cy="15819353"/>
          </a:xfrm>
          <a:custGeom>
            <a:avLst/>
            <a:gdLst/>
            <a:ahLst/>
            <a:cxnLst/>
            <a:rect r="r" b="b" t="t" l="l"/>
            <a:pathLst>
              <a:path h="15819353" w="23125946">
                <a:moveTo>
                  <a:pt x="23125946" y="15819353"/>
                </a:moveTo>
                <a:lnTo>
                  <a:pt x="0" y="15819353"/>
                </a:lnTo>
                <a:lnTo>
                  <a:pt x="0" y="0"/>
                </a:lnTo>
                <a:lnTo>
                  <a:pt x="23125946" y="0"/>
                </a:lnTo>
                <a:lnTo>
                  <a:pt x="23125946" y="1581935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2320349">
            <a:off x="3678037" y="11091107"/>
            <a:ext cx="20568324" cy="18074414"/>
          </a:xfrm>
          <a:custGeom>
            <a:avLst/>
            <a:gdLst/>
            <a:ahLst/>
            <a:cxnLst/>
            <a:rect r="r" b="b" t="t" l="l"/>
            <a:pathLst>
              <a:path h="18074414" w="20568324">
                <a:moveTo>
                  <a:pt x="20568323" y="18074415"/>
                </a:moveTo>
                <a:lnTo>
                  <a:pt x="0" y="18074415"/>
                </a:lnTo>
                <a:lnTo>
                  <a:pt x="0" y="0"/>
                </a:lnTo>
                <a:lnTo>
                  <a:pt x="20568323" y="0"/>
                </a:lnTo>
                <a:lnTo>
                  <a:pt x="20568323" y="18074415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837041" y="7507468"/>
            <a:ext cx="4246041" cy="4114800"/>
          </a:xfrm>
          <a:custGeom>
            <a:avLst/>
            <a:gdLst/>
            <a:ahLst/>
            <a:cxnLst/>
            <a:rect r="r" b="b" t="t" l="l"/>
            <a:pathLst>
              <a:path h="4114800" w="4246041">
                <a:moveTo>
                  <a:pt x="0" y="0"/>
                </a:moveTo>
                <a:lnTo>
                  <a:pt x="4246041" y="0"/>
                </a:lnTo>
                <a:lnTo>
                  <a:pt x="42460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068954" y="2329226"/>
            <a:ext cx="13811780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6399" b="true">
                <a:solidFill>
                  <a:srgbClr val="F1F8E9"/>
                </a:solidFill>
                <a:latin typeface="Poppins Bold"/>
                <a:ea typeface="Poppins Bold"/>
                <a:cs typeface="Poppins Bold"/>
                <a:sym typeface="Poppins Bold"/>
              </a:rPr>
              <a:t>Team Working Agreement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945118" y="3322625"/>
            <a:ext cx="7275404" cy="5980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b="true">
                <a:solidFill>
                  <a:srgbClr val="F1F8E9"/>
                </a:solidFill>
                <a:latin typeface="Nunito Bold"/>
                <a:ea typeface="Nunito Bold"/>
                <a:cs typeface="Nunito Bold"/>
                <a:sym typeface="Nunito Bold"/>
              </a:rPr>
              <a:t>Communication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Weekly video meeting Saturday @ 4PM on Discord for updates and planning.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Weekly WhatsApp check-in on Wednesdays </a:t>
            </a:r>
            <a:r>
              <a:rPr lang="en-US" b="true" sz="2300">
                <a:solidFill>
                  <a:srgbClr val="F1F8E9"/>
                </a:solidFill>
                <a:latin typeface="Nunito Bold"/>
                <a:ea typeface="Nunito Bold"/>
                <a:cs typeface="Nunito Bold"/>
                <a:sym typeface="Nunito Bold"/>
              </a:rPr>
              <a:t>for status updates.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Members must give advance notice if missing meetings or becoming inactive.</a:t>
            </a:r>
          </a:p>
          <a:p>
            <a:pPr algn="l">
              <a:lnSpc>
                <a:spcPts val="3220"/>
              </a:lnSpc>
            </a:pPr>
            <a:r>
              <a:rPr lang="en-US" sz="2300" b="true">
                <a:solidFill>
                  <a:srgbClr val="F1F8E9"/>
                </a:solidFill>
                <a:latin typeface="Nunito Bold"/>
                <a:ea typeface="Nunito Bold"/>
                <a:cs typeface="Nunito Bold"/>
                <a:sym typeface="Nunito Bold"/>
              </a:rPr>
              <a:t>Workflow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Each member works on their assigned feature branch.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A T</a:t>
            </a:r>
            <a:r>
              <a:rPr lang="en-US" sz="23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ask Tracker will manage assignments and deadlines.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Code merges require coordination and pull request approval.</a:t>
            </a:r>
          </a:p>
          <a:p>
            <a:pPr algn="l">
              <a:lnSpc>
                <a:spcPts val="3220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0418740" y="3504401"/>
            <a:ext cx="6601614" cy="5816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9"/>
              </a:lnSpc>
            </a:pPr>
            <a:r>
              <a:rPr lang="en-US" sz="2370" b="true">
                <a:solidFill>
                  <a:srgbClr val="F1F8E9"/>
                </a:solidFill>
                <a:latin typeface="Nunito Bold"/>
                <a:ea typeface="Nunito Bold"/>
                <a:cs typeface="Nunito Bold"/>
                <a:sym typeface="Nunito Bold"/>
              </a:rPr>
              <a:t>Team Values</a:t>
            </a:r>
          </a:p>
          <a:p>
            <a:pPr algn="l" marL="511863" indent="-255931" lvl="1">
              <a:lnSpc>
                <a:spcPts val="3319"/>
              </a:lnSpc>
              <a:buFont typeface="Arial"/>
              <a:buChar char="•"/>
            </a:pPr>
            <a:r>
              <a:rPr lang="en-US" sz="237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Treat all team members with respect.</a:t>
            </a:r>
          </a:p>
          <a:p>
            <a:pPr algn="l" marL="511863" indent="-255931" lvl="1">
              <a:lnSpc>
                <a:spcPts val="3319"/>
              </a:lnSpc>
              <a:buFont typeface="Arial"/>
              <a:buChar char="•"/>
            </a:pPr>
            <a:r>
              <a:rPr lang="en-US" sz="237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Disagree professionally without personal attacks.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Raise concerns with the team before escalating.</a:t>
            </a:r>
          </a:p>
          <a:p>
            <a:pPr algn="l" marL="511863" indent="-255931" lvl="1">
              <a:lnSpc>
                <a:spcPts val="3319"/>
              </a:lnSpc>
              <a:buFont typeface="Arial"/>
              <a:buChar char="•"/>
            </a:pPr>
            <a:r>
              <a:rPr lang="en-US" sz="237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Share work fairly.</a:t>
            </a:r>
          </a:p>
          <a:p>
            <a:pPr algn="l">
              <a:lnSpc>
                <a:spcPts val="3319"/>
              </a:lnSpc>
            </a:pPr>
            <a:r>
              <a:rPr lang="en-US" sz="2370" b="true">
                <a:solidFill>
                  <a:srgbClr val="F1F8E9"/>
                </a:solidFill>
                <a:latin typeface="Nunito Bold"/>
                <a:ea typeface="Nunito Bold"/>
                <a:cs typeface="Nunito Bold"/>
                <a:sym typeface="Nunito Bold"/>
              </a:rPr>
              <a:t>Marking Tasks Complete</a:t>
            </a:r>
          </a:p>
          <a:p>
            <a:pPr algn="l" marL="511863" indent="-255931" lvl="1">
              <a:lnSpc>
                <a:spcPts val="3319"/>
              </a:lnSpc>
              <a:buFont typeface="Arial"/>
              <a:buChar char="•"/>
            </a:pPr>
            <a:r>
              <a:rPr lang="en-US" sz="237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Features must meet agreed requirements.</a:t>
            </a:r>
          </a:p>
          <a:p>
            <a:pPr algn="l" marL="511863" indent="-255931" lvl="1">
              <a:lnSpc>
                <a:spcPts val="3319"/>
              </a:lnSpc>
              <a:buFont typeface="Arial"/>
              <a:buChar char="•"/>
            </a:pPr>
            <a:r>
              <a:rPr lang="en-US" sz="237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Open a pull request and receive at least two approvals.</a:t>
            </a:r>
          </a:p>
          <a:p>
            <a:pPr algn="l" marL="511863" indent="-255931" lvl="1">
              <a:lnSpc>
                <a:spcPts val="3319"/>
              </a:lnSpc>
              <a:buFont typeface="Arial"/>
              <a:buChar char="•"/>
            </a:pPr>
            <a:r>
              <a:rPr lang="en-US" sz="237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Update documentation and disclose any AI tool usage.</a:t>
            </a:r>
          </a:p>
          <a:p>
            <a:pPr algn="l">
              <a:lnSpc>
                <a:spcPts val="3319"/>
              </a:lnSpc>
            </a:pP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98481" y="-389647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4"/>
                </a:lnTo>
                <a:lnTo>
                  <a:pt x="0" y="110662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-363526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3"/>
                </a:lnTo>
                <a:lnTo>
                  <a:pt x="0" y="110662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-8871820">
            <a:off x="-3269275" y="-3602232"/>
            <a:ext cx="23125946" cy="15819353"/>
          </a:xfrm>
          <a:custGeom>
            <a:avLst/>
            <a:gdLst/>
            <a:ahLst/>
            <a:cxnLst/>
            <a:rect r="r" b="b" t="t" l="l"/>
            <a:pathLst>
              <a:path h="15819353" w="23125946">
                <a:moveTo>
                  <a:pt x="23125946" y="15819353"/>
                </a:moveTo>
                <a:lnTo>
                  <a:pt x="0" y="15819353"/>
                </a:lnTo>
                <a:lnTo>
                  <a:pt x="0" y="0"/>
                </a:lnTo>
                <a:lnTo>
                  <a:pt x="23125946" y="0"/>
                </a:lnTo>
                <a:lnTo>
                  <a:pt x="23125946" y="1581935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2320349">
            <a:off x="3678037" y="11091107"/>
            <a:ext cx="20568324" cy="18074414"/>
          </a:xfrm>
          <a:custGeom>
            <a:avLst/>
            <a:gdLst/>
            <a:ahLst/>
            <a:cxnLst/>
            <a:rect r="r" b="b" t="t" l="l"/>
            <a:pathLst>
              <a:path h="18074414" w="20568324">
                <a:moveTo>
                  <a:pt x="20568323" y="18074415"/>
                </a:moveTo>
                <a:lnTo>
                  <a:pt x="0" y="18074415"/>
                </a:lnTo>
                <a:lnTo>
                  <a:pt x="0" y="0"/>
                </a:lnTo>
                <a:lnTo>
                  <a:pt x="20568323" y="0"/>
                </a:lnTo>
                <a:lnTo>
                  <a:pt x="20568323" y="18074415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837041" y="7507468"/>
            <a:ext cx="4246041" cy="4114800"/>
          </a:xfrm>
          <a:custGeom>
            <a:avLst/>
            <a:gdLst/>
            <a:ahLst/>
            <a:cxnLst/>
            <a:rect r="r" b="b" t="t" l="l"/>
            <a:pathLst>
              <a:path h="4114800" w="4246041">
                <a:moveTo>
                  <a:pt x="0" y="0"/>
                </a:moveTo>
                <a:lnTo>
                  <a:pt x="4246041" y="0"/>
                </a:lnTo>
                <a:lnTo>
                  <a:pt x="42460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324215" y="4081700"/>
            <a:ext cx="11301259" cy="5763642"/>
          </a:xfrm>
          <a:custGeom>
            <a:avLst/>
            <a:gdLst/>
            <a:ahLst/>
            <a:cxnLst/>
            <a:rect r="r" b="b" t="t" l="l"/>
            <a:pathLst>
              <a:path h="5763642" w="11301259">
                <a:moveTo>
                  <a:pt x="0" y="0"/>
                </a:moveTo>
                <a:lnTo>
                  <a:pt x="11301259" y="0"/>
                </a:lnTo>
                <a:lnTo>
                  <a:pt x="11301259" y="5763642"/>
                </a:lnTo>
                <a:lnTo>
                  <a:pt x="0" y="576364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068954" y="2329226"/>
            <a:ext cx="13811780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6399" b="true">
                <a:solidFill>
                  <a:srgbClr val="F1F8E9"/>
                </a:solidFill>
                <a:latin typeface="Poppins Bold"/>
                <a:ea typeface="Poppins Bold"/>
                <a:cs typeface="Poppins Bold"/>
                <a:sym typeface="Poppins Bold"/>
              </a:rPr>
              <a:t>Demo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368623" y="3194096"/>
            <a:ext cx="13598379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u="sng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  <a:hlinkClick r:id="rId10" tooltip="https://2026-sa-tech-docs.vercel.app"/>
              </a:rPr>
              <a:t>https://2026-sa-tech-docs.vercel.app/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98481" y="-389647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4"/>
                </a:lnTo>
                <a:lnTo>
                  <a:pt x="0" y="110662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-363526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3"/>
                </a:lnTo>
                <a:lnTo>
                  <a:pt x="0" y="110662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-8871820">
            <a:off x="-3269275" y="-3602232"/>
            <a:ext cx="23125946" cy="15819353"/>
          </a:xfrm>
          <a:custGeom>
            <a:avLst/>
            <a:gdLst/>
            <a:ahLst/>
            <a:cxnLst/>
            <a:rect r="r" b="b" t="t" l="l"/>
            <a:pathLst>
              <a:path h="15819353" w="23125946">
                <a:moveTo>
                  <a:pt x="23125946" y="15819353"/>
                </a:moveTo>
                <a:lnTo>
                  <a:pt x="0" y="15819353"/>
                </a:lnTo>
                <a:lnTo>
                  <a:pt x="0" y="0"/>
                </a:lnTo>
                <a:lnTo>
                  <a:pt x="23125946" y="0"/>
                </a:lnTo>
                <a:lnTo>
                  <a:pt x="23125946" y="1581935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2320349">
            <a:off x="3678037" y="11091107"/>
            <a:ext cx="20568324" cy="18074414"/>
          </a:xfrm>
          <a:custGeom>
            <a:avLst/>
            <a:gdLst/>
            <a:ahLst/>
            <a:cxnLst/>
            <a:rect r="r" b="b" t="t" l="l"/>
            <a:pathLst>
              <a:path h="18074414" w="20568324">
                <a:moveTo>
                  <a:pt x="20568323" y="18074415"/>
                </a:moveTo>
                <a:lnTo>
                  <a:pt x="0" y="18074415"/>
                </a:lnTo>
                <a:lnTo>
                  <a:pt x="0" y="0"/>
                </a:lnTo>
                <a:lnTo>
                  <a:pt x="20568323" y="0"/>
                </a:lnTo>
                <a:lnTo>
                  <a:pt x="20568323" y="18074415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837041" y="7507468"/>
            <a:ext cx="4246041" cy="4114800"/>
          </a:xfrm>
          <a:custGeom>
            <a:avLst/>
            <a:gdLst/>
            <a:ahLst/>
            <a:cxnLst/>
            <a:rect r="r" b="b" t="t" l="l"/>
            <a:pathLst>
              <a:path h="4114800" w="4246041">
                <a:moveTo>
                  <a:pt x="0" y="0"/>
                </a:moveTo>
                <a:lnTo>
                  <a:pt x="4246041" y="0"/>
                </a:lnTo>
                <a:lnTo>
                  <a:pt x="424604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068954" y="2329226"/>
            <a:ext cx="13811780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6399" b="true">
                <a:solidFill>
                  <a:srgbClr val="F1F8E9"/>
                </a:solidFill>
                <a:latin typeface="Poppins Bold"/>
                <a:ea typeface="Poppins Bold"/>
                <a:cs typeface="Poppins Bold"/>
                <a:sym typeface="Poppins Bold"/>
              </a:rPr>
              <a:t>Project Wiki Link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344811" y="4775286"/>
            <a:ext cx="13598379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>
                <a:solidFill>
                  <a:srgbClr val="F1F8E9"/>
                </a:solidFill>
                <a:latin typeface="Nunito"/>
                <a:ea typeface="Nunito"/>
                <a:cs typeface="Nunito"/>
                <a:sym typeface="Nunito"/>
              </a:rPr>
              <a:t>https://github.com/htmw/2026SA-TechDocs/wiki</a:t>
            </a: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98481" y="-389647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4"/>
                </a:lnTo>
                <a:lnTo>
                  <a:pt x="0" y="110662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-363526"/>
            <a:ext cx="11066293" cy="11066293"/>
          </a:xfrm>
          <a:custGeom>
            <a:avLst/>
            <a:gdLst/>
            <a:ahLst/>
            <a:cxnLst/>
            <a:rect r="r" b="b" t="t" l="l"/>
            <a:pathLst>
              <a:path h="11066293" w="11066293">
                <a:moveTo>
                  <a:pt x="0" y="0"/>
                </a:moveTo>
                <a:lnTo>
                  <a:pt x="11066293" y="0"/>
                </a:lnTo>
                <a:lnTo>
                  <a:pt x="11066293" y="11066293"/>
                </a:lnTo>
                <a:lnTo>
                  <a:pt x="0" y="110662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9190535">
            <a:off x="-1980178" y="-3645831"/>
            <a:ext cx="23857792" cy="16319974"/>
          </a:xfrm>
          <a:custGeom>
            <a:avLst/>
            <a:gdLst/>
            <a:ahLst/>
            <a:cxnLst/>
            <a:rect r="r" b="b" t="t" l="l"/>
            <a:pathLst>
              <a:path h="16319974" w="23857792">
                <a:moveTo>
                  <a:pt x="0" y="16319974"/>
                </a:moveTo>
                <a:lnTo>
                  <a:pt x="23857792" y="16319974"/>
                </a:lnTo>
                <a:lnTo>
                  <a:pt x="23857792" y="0"/>
                </a:lnTo>
                <a:lnTo>
                  <a:pt x="0" y="0"/>
                </a:lnTo>
                <a:lnTo>
                  <a:pt x="0" y="1631997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2320349">
            <a:off x="3678037" y="11091107"/>
            <a:ext cx="20568324" cy="18074414"/>
          </a:xfrm>
          <a:custGeom>
            <a:avLst/>
            <a:gdLst/>
            <a:ahLst/>
            <a:cxnLst/>
            <a:rect r="r" b="b" t="t" l="l"/>
            <a:pathLst>
              <a:path h="18074414" w="20568324">
                <a:moveTo>
                  <a:pt x="20568323" y="18074415"/>
                </a:moveTo>
                <a:lnTo>
                  <a:pt x="0" y="18074415"/>
                </a:lnTo>
                <a:lnTo>
                  <a:pt x="0" y="0"/>
                </a:lnTo>
                <a:lnTo>
                  <a:pt x="20568323" y="0"/>
                </a:lnTo>
                <a:lnTo>
                  <a:pt x="20568323" y="18074415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562446" y="7724645"/>
            <a:ext cx="1393708" cy="2267869"/>
          </a:xfrm>
          <a:custGeom>
            <a:avLst/>
            <a:gdLst/>
            <a:ahLst/>
            <a:cxnLst/>
            <a:rect r="r" b="b" t="t" l="l"/>
            <a:pathLst>
              <a:path h="2267869" w="1393708">
                <a:moveTo>
                  <a:pt x="0" y="0"/>
                </a:moveTo>
                <a:lnTo>
                  <a:pt x="1393708" y="0"/>
                </a:lnTo>
                <a:lnTo>
                  <a:pt x="1393708" y="2267869"/>
                </a:lnTo>
                <a:lnTo>
                  <a:pt x="0" y="226786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464502" y="4687253"/>
            <a:ext cx="11406622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b="true" sz="6399">
                <a:solidFill>
                  <a:srgbClr val="F1F8E9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DAHF7PoJh4Q</dc:identifier>
  <dcterms:modified xsi:type="dcterms:W3CDTF">2011-08-01T06:04:30Z</dcterms:modified>
  <cp:revision>1</cp:revision>
  <dc:title>Capstone Project Sprint 2 Slides</dc:title>
</cp:coreProperties>
</file>