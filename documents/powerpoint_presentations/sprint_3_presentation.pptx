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Poppins Bold" charset="1" panose="00000800000000000000"/>
      <p:regular r:id="rId42"/>
    </p:embeddedFont>
    <p:embeddedFont>
      <p:font typeface="Nunito" charset="1" panose="00000000000000000000"/>
      <p:regular r:id="rId43"/>
    </p:embeddedFont>
    <p:embeddedFont>
      <p:font typeface="Nunito Bold" charset="1" panose="00000000000000000000"/>
      <p:regular r:id="rId44"/>
    </p:embeddedFont>
    <p:embeddedFont>
      <p:font typeface="Poppins" charset="1" panose="000005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4.png" Type="http://schemas.openxmlformats.org/officeDocument/2006/relationships/image"/><Relationship Id="rId7" Target="../media/image7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4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5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6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2026-sa-tech-docs.vercel.app" TargetMode="External" Type="http://schemas.openxmlformats.org/officeDocument/2006/relationships/hyperlink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426315" y="4827327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451157" y="-1212832"/>
            <a:ext cx="7315200" cy="4043311"/>
          </a:xfrm>
          <a:custGeom>
            <a:avLst/>
            <a:gdLst/>
            <a:ahLst/>
            <a:cxnLst/>
            <a:rect r="r" b="b" t="t" l="l"/>
            <a:pathLst>
              <a:path h="4043311" w="7315200">
                <a:moveTo>
                  <a:pt x="7315200" y="4043310"/>
                </a:moveTo>
                <a:lnTo>
                  <a:pt x="0" y="4043310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433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4552" y="3267048"/>
            <a:ext cx="2923782" cy="2923782"/>
          </a:xfrm>
          <a:custGeom>
            <a:avLst/>
            <a:gdLst/>
            <a:ahLst/>
            <a:cxnLst/>
            <a:rect r="r" b="b" t="t" l="l"/>
            <a:pathLst>
              <a:path h="2923782" w="2923782">
                <a:moveTo>
                  <a:pt x="0" y="0"/>
                </a:moveTo>
                <a:lnTo>
                  <a:pt x="2923782" y="0"/>
                </a:lnTo>
                <a:lnTo>
                  <a:pt x="2923782" y="2923781"/>
                </a:lnTo>
                <a:lnTo>
                  <a:pt x="0" y="29237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49609" y="1626140"/>
            <a:ext cx="10069591" cy="155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3"/>
              </a:lnSpc>
            </a:pPr>
            <a:r>
              <a:rPr lang="en-US" sz="10517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NutriAI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8441" y="3745958"/>
            <a:ext cx="10458743" cy="19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5"/>
              </a:lnSpc>
            </a:pPr>
            <a:r>
              <a:rPr lang="en-US" sz="69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TechDocs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9657" y="6455908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CS691 Capstone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38441" y="302093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677147" y="3022959"/>
            <a:ext cx="2965041" cy="3030931"/>
          </a:xfrm>
          <a:custGeom>
            <a:avLst/>
            <a:gdLst/>
            <a:ahLst/>
            <a:cxnLst/>
            <a:rect r="r" b="b" t="t" l="l"/>
            <a:pathLst>
              <a:path h="3030931" w="2965041">
                <a:moveTo>
                  <a:pt x="0" y="0"/>
                </a:moveTo>
                <a:lnTo>
                  <a:pt x="2965041" y="0"/>
                </a:lnTo>
                <a:lnTo>
                  <a:pt x="2965041" y="3030932"/>
                </a:lnTo>
                <a:lnTo>
                  <a:pt x="0" y="30309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11" t="0" r="-111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6487" y="3748384"/>
            <a:ext cx="11220599" cy="4781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Alan Tsui - Team Lead/Full Stack Developer</a:t>
            </a:r>
          </a:p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Angel Flores - AI/Backend Developer</a:t>
            </a:r>
          </a:p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Erin Sorbella - Front End Developer</a:t>
            </a:r>
          </a:p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James Ambenge - Full-Stack Developer</a:t>
            </a:r>
          </a:p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Qui Neubauer - Full-Stack Developer</a:t>
            </a:r>
          </a:p>
          <a:p>
            <a:pPr algn="ctr">
              <a:lnSpc>
                <a:spcPts val="6317"/>
              </a:lnSpc>
            </a:pPr>
            <a:r>
              <a:rPr lang="en-US" sz="4512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Saba Alam - Project Manager/Tester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25657" y="821820"/>
            <a:ext cx="3314081" cy="2873481"/>
          </a:xfrm>
          <a:custGeom>
            <a:avLst/>
            <a:gdLst/>
            <a:ahLst/>
            <a:cxnLst/>
            <a:rect r="r" b="b" t="t" l="l"/>
            <a:pathLst>
              <a:path h="2873481" w="3314081">
                <a:moveTo>
                  <a:pt x="0" y="0"/>
                </a:moveTo>
                <a:lnTo>
                  <a:pt x="3314081" y="0"/>
                </a:lnTo>
                <a:lnTo>
                  <a:pt x="3314081" y="2873481"/>
                </a:lnTo>
                <a:lnTo>
                  <a:pt x="0" y="28734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77147" y="6998874"/>
            <a:ext cx="2913931" cy="2823644"/>
          </a:xfrm>
          <a:custGeom>
            <a:avLst/>
            <a:gdLst/>
            <a:ahLst/>
            <a:cxnLst/>
            <a:rect r="r" b="b" t="t" l="l"/>
            <a:pathLst>
              <a:path h="2823644" w="2913931">
                <a:moveTo>
                  <a:pt x="0" y="0"/>
                </a:moveTo>
                <a:lnTo>
                  <a:pt x="2913931" y="0"/>
                </a:lnTo>
                <a:lnTo>
                  <a:pt x="2913931" y="2823644"/>
                </a:lnTo>
                <a:lnTo>
                  <a:pt x="0" y="2823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598" r="0" b="-159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55907" y="4046717"/>
            <a:ext cx="2599732" cy="2599732"/>
          </a:xfrm>
          <a:custGeom>
            <a:avLst/>
            <a:gdLst/>
            <a:ahLst/>
            <a:cxnLst/>
            <a:rect r="r" b="b" t="t" l="l"/>
            <a:pathLst>
              <a:path h="2599732" w="2599732">
                <a:moveTo>
                  <a:pt x="0" y="0"/>
                </a:moveTo>
                <a:lnTo>
                  <a:pt x="2599732" y="0"/>
                </a:lnTo>
                <a:lnTo>
                  <a:pt x="2599732" y="2599732"/>
                </a:lnTo>
                <a:lnTo>
                  <a:pt x="0" y="25997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2497212"/>
            <a:ext cx="14388825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&amp; Roles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8449" y="3027798"/>
            <a:ext cx="7255551" cy="496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Feedback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Project Description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MVP &amp; Core Features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Personas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Diagrams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Algorithms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Technologies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2 Recap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062016"/>
            <a:ext cx="1828800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72103" y="3027798"/>
            <a:ext cx="7255551" cy="496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Summary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3 Backlog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Metrics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Retrospective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Working Agreement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Github Link</a:t>
            </a:r>
          </a:p>
          <a:p>
            <a:pPr algn="ctr">
              <a:lnSpc>
                <a:spcPts val="4929"/>
              </a:lnSpc>
            </a:pPr>
            <a:r>
              <a:rPr lang="en-US" sz="3521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412310"/>
            <a:ext cx="15845928" cy="431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Added Feedback Slide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Added More Precise User Labels for User Stories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Diagrams have been remade to be more legible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Fixed Product Backlog Table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Historical Metrics + Completed/Committed Ratios</a:t>
            </a:r>
          </a:p>
          <a:p>
            <a:pPr algn="l">
              <a:lnSpc>
                <a:spcPts val="489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989090" y="2652704"/>
            <a:ext cx="3146711" cy="3146711"/>
          </a:xfrm>
          <a:custGeom>
            <a:avLst/>
            <a:gdLst/>
            <a:ahLst/>
            <a:cxnLst/>
            <a:rect r="r" b="b" t="t" l="l"/>
            <a:pathLst>
              <a:path h="3146711" w="3146711">
                <a:moveTo>
                  <a:pt x="0" y="0"/>
                </a:moveTo>
                <a:lnTo>
                  <a:pt x="3146711" y="0"/>
                </a:lnTo>
                <a:lnTo>
                  <a:pt x="3146711" y="3146711"/>
                </a:lnTo>
                <a:lnTo>
                  <a:pt x="0" y="31467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2196457"/>
            <a:ext cx="1498909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Feedback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05595">
            <a:off x="12827595" y="7792742"/>
            <a:ext cx="1624261" cy="2131675"/>
          </a:xfrm>
          <a:custGeom>
            <a:avLst/>
            <a:gdLst/>
            <a:ahLst/>
            <a:cxnLst/>
            <a:rect r="r" b="b" t="t" l="l"/>
            <a:pathLst>
              <a:path h="2131675" w="1624261">
                <a:moveTo>
                  <a:pt x="0" y="0"/>
                </a:moveTo>
                <a:lnTo>
                  <a:pt x="1624262" y="0"/>
                </a:lnTo>
                <a:lnTo>
                  <a:pt x="1624262" y="2131675"/>
                </a:lnTo>
                <a:lnTo>
                  <a:pt x="0" y="21316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5979" y="3161978"/>
            <a:ext cx="17511493" cy="569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5425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NutriAI</a:t>
            </a:r>
          </a:p>
          <a:p>
            <a:pPr algn="l">
              <a:lnSpc>
                <a:spcPts val="2734"/>
              </a:lnSpc>
            </a:pPr>
          </a:p>
          <a:p>
            <a:pPr algn="l">
              <a:lnSpc>
                <a:spcPts val="5013"/>
              </a:lnSpc>
            </a:pPr>
            <a:r>
              <a:rPr lang="en-US" sz="358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This behavior-based app creates a nutrition plan based on your diet, energy, habits, and overall lifestyle. The main focus of this app is to make you healthier, feel more energetic, and reach or maintain a target weight. </a:t>
            </a:r>
            <a:r>
              <a:rPr lang="en-US" sz="358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You can login daily and track your food, energy, and cravings. </a:t>
            </a:r>
          </a:p>
          <a:p>
            <a:pPr algn="l">
              <a:lnSpc>
                <a:spcPts val="5013"/>
              </a:lnSpc>
            </a:pPr>
          </a:p>
          <a:p>
            <a:pPr algn="l">
              <a:lnSpc>
                <a:spcPts val="5013"/>
              </a:lnSpc>
            </a:pPr>
            <a:r>
              <a:rPr lang="en-US" sz="358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The plan will adjust to </a:t>
            </a:r>
            <a:r>
              <a:rPr lang="en-US" sz="358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your </a:t>
            </a:r>
            <a:r>
              <a:rPr lang="en-US" sz="358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daily needs.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409100" y="688457"/>
            <a:ext cx="2306692" cy="2357952"/>
          </a:xfrm>
          <a:custGeom>
            <a:avLst/>
            <a:gdLst/>
            <a:ahLst/>
            <a:cxnLst/>
            <a:rect r="r" b="b" t="t" l="l"/>
            <a:pathLst>
              <a:path h="2357952" w="2306692">
                <a:moveTo>
                  <a:pt x="0" y="0"/>
                </a:moveTo>
                <a:lnTo>
                  <a:pt x="2306692" y="0"/>
                </a:lnTo>
                <a:lnTo>
                  <a:pt x="2306692" y="2357952"/>
                </a:lnTo>
                <a:lnTo>
                  <a:pt x="0" y="23579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11" t="0" r="-111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2105339"/>
            <a:ext cx="1828800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Description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044" y="3720012"/>
            <a:ext cx="14728667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Smart Plan Generator: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Generates a personalized daily calorie and macro target.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Hungry”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Provides recommendations based on time since last meal and calorie intake.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Craving”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Allows users to select craving type and receive a simple intervention.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Basic Metrics Dashboard: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Shows weight trend, calorie progress, and appetite score.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Recipe Recommender: 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Recommends a meal with ingredients and recipe instructions when hungry or craving.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User Login &amp; Profile Setup: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Basic account creation with weight, height, goal weight, and lifestyle inputs.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2543" y="1793784"/>
            <a:ext cx="2199311" cy="1983378"/>
          </a:xfrm>
          <a:custGeom>
            <a:avLst/>
            <a:gdLst/>
            <a:ahLst/>
            <a:cxnLst/>
            <a:rect r="r" b="b" t="t" l="l"/>
            <a:pathLst>
              <a:path h="1983378" w="2199311">
                <a:moveTo>
                  <a:pt x="0" y="0"/>
                </a:moveTo>
                <a:lnTo>
                  <a:pt x="2199311" y="0"/>
                </a:lnTo>
                <a:lnTo>
                  <a:pt x="2199311" y="1983378"/>
                </a:lnTo>
                <a:lnTo>
                  <a:pt x="0" y="1983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27712" y="3270296"/>
            <a:ext cx="1831588" cy="2030995"/>
          </a:xfrm>
          <a:custGeom>
            <a:avLst/>
            <a:gdLst/>
            <a:ahLst/>
            <a:cxnLst/>
            <a:rect r="r" b="b" t="t" l="l"/>
            <a:pathLst>
              <a:path h="2030995" w="1831588">
                <a:moveTo>
                  <a:pt x="0" y="0"/>
                </a:moveTo>
                <a:lnTo>
                  <a:pt x="1831588" y="0"/>
                </a:lnTo>
                <a:lnTo>
                  <a:pt x="1831588" y="2030995"/>
                </a:lnTo>
                <a:lnTo>
                  <a:pt x="0" y="2030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MVP/Core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33098" y="3610190"/>
            <a:ext cx="8154902" cy="5355721"/>
          </a:xfrm>
          <a:custGeom>
            <a:avLst/>
            <a:gdLst/>
            <a:ahLst/>
            <a:cxnLst/>
            <a:rect r="r" b="b" t="t" l="l"/>
            <a:pathLst>
              <a:path h="5355721" w="8154902">
                <a:moveTo>
                  <a:pt x="0" y="0"/>
                </a:moveTo>
                <a:lnTo>
                  <a:pt x="8154902" y="0"/>
                </a:lnTo>
                <a:lnTo>
                  <a:pt x="8154902" y="5355721"/>
                </a:lnTo>
                <a:lnTo>
                  <a:pt x="0" y="53557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606" t="-5041" r="-7508" b="-67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3006" y="1792934"/>
            <a:ext cx="15861987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HEALTH OPTIMIZER 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09000" y="3555283"/>
            <a:ext cx="8123879" cy="541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26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IT Professional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>
              <a:lnSpc>
                <a:spcPts val="4279"/>
              </a:lnSpc>
            </a:pPr>
          </a:p>
          <a:p>
            <a:pPr algn="l">
              <a:lnSpc>
                <a:spcPts val="4279"/>
              </a:lnSpc>
            </a:pP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Eric is a former athlete now adapting to a sedentary job. As someone in tech himself, he’s curious in seeing how far an app can be used to assist with nutritional and fitness needs.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78800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3006" y="1792934"/>
            <a:ext cx="15861987" cy="348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BUSY PROFESSIONAL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09000" y="3545532"/>
            <a:ext cx="7727505" cy="541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 Age: 42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Office Manager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Beginner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>
              <a:lnSpc>
                <a:spcPts val="4279"/>
              </a:lnSpc>
            </a:pPr>
          </a:p>
          <a:p>
            <a:pPr algn="l">
              <a:lnSpc>
                <a:spcPts val="4279"/>
              </a:lnSpc>
            </a:pP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Jessica is dedicated to her work, often eating what is convenient rather than what’s healthy. After receiving advice from her doctor to have a more balanced diet, she looks into NutriAI.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36504" y="3612207"/>
            <a:ext cx="8151496" cy="5351608"/>
          </a:xfrm>
          <a:custGeom>
            <a:avLst/>
            <a:gdLst/>
            <a:ahLst/>
            <a:cxnLst/>
            <a:rect r="r" b="b" t="t" l="l"/>
            <a:pathLst>
              <a:path h="5351608" w="8151496">
                <a:moveTo>
                  <a:pt x="0" y="0"/>
                </a:moveTo>
                <a:lnTo>
                  <a:pt x="8151496" y="0"/>
                </a:lnTo>
                <a:lnTo>
                  <a:pt x="8151496" y="5351608"/>
                </a:lnTo>
                <a:lnTo>
                  <a:pt x="0" y="53516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46" t="0" r="-2546" b="-671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78800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3006" y="1792934"/>
            <a:ext cx="15861987" cy="348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OZEMPIC ALTERNATIVE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09000" y="3545532"/>
            <a:ext cx="7727505" cy="596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 Age: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34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University Professor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59956" indent="-329978" lvl="1">
              <a:lnSpc>
                <a:spcPts val="4279"/>
              </a:lnSpc>
              <a:buFont typeface="Arial"/>
              <a:buChar char="•"/>
            </a:pPr>
            <a:r>
              <a:rPr lang="en-US" b="true" sz="3056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 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High</a:t>
            </a:r>
          </a:p>
          <a:p>
            <a:pPr algn="l">
              <a:lnSpc>
                <a:spcPts val="4279"/>
              </a:lnSpc>
            </a:pPr>
          </a:p>
          <a:p>
            <a:pPr algn="l">
              <a:lnSpc>
                <a:spcPts val="4279"/>
              </a:lnSpc>
            </a:pP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Dyl</a:t>
            </a:r>
            <a:r>
              <a:rPr lang="en-US" sz="3056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an has recently stopped taking weight loss medication and is looking for help managing his diet and appetite. He’s interested in NutriAI for its “I’m Feeling Hungry” button.</a:t>
            </a:r>
          </a:p>
          <a:p>
            <a:pPr algn="l">
              <a:lnSpc>
                <a:spcPts val="427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36504" y="3612207"/>
            <a:ext cx="8151496" cy="5353191"/>
          </a:xfrm>
          <a:custGeom>
            <a:avLst/>
            <a:gdLst/>
            <a:ahLst/>
            <a:cxnLst/>
            <a:rect r="r" b="b" t="t" l="l"/>
            <a:pathLst>
              <a:path h="5353191" w="8151496">
                <a:moveTo>
                  <a:pt x="0" y="0"/>
                </a:moveTo>
                <a:lnTo>
                  <a:pt x="8151496" y="0"/>
                </a:lnTo>
                <a:lnTo>
                  <a:pt x="8151496" y="5353191"/>
                </a:lnTo>
                <a:lnTo>
                  <a:pt x="0" y="53531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371" t="-4267" r="-36744" b="-673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0525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4646" y="4656568"/>
            <a:ext cx="2200647" cy="2200647"/>
          </a:xfrm>
          <a:custGeom>
            <a:avLst/>
            <a:gdLst/>
            <a:ahLst/>
            <a:cxnLst/>
            <a:rect r="r" b="b" t="t" l="l"/>
            <a:pathLst>
              <a:path h="2200647" w="2200647">
                <a:moveTo>
                  <a:pt x="0" y="0"/>
                </a:moveTo>
                <a:lnTo>
                  <a:pt x="2200647" y="0"/>
                </a:lnTo>
                <a:lnTo>
                  <a:pt x="2200647" y="2200648"/>
                </a:lnTo>
                <a:lnTo>
                  <a:pt x="0" y="2200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96473" y="4708886"/>
            <a:ext cx="2262359" cy="2262359"/>
          </a:xfrm>
          <a:custGeom>
            <a:avLst/>
            <a:gdLst/>
            <a:ahLst/>
            <a:cxnLst/>
            <a:rect r="r" b="b" t="t" l="l"/>
            <a:pathLst>
              <a:path h="2262359" w="2262359">
                <a:moveTo>
                  <a:pt x="0" y="0"/>
                </a:moveTo>
                <a:lnTo>
                  <a:pt x="2262359" y="0"/>
                </a:lnTo>
                <a:lnTo>
                  <a:pt x="2262359" y="2262359"/>
                </a:lnTo>
                <a:lnTo>
                  <a:pt x="0" y="22623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72147" y="4708886"/>
            <a:ext cx="2302479" cy="2302479"/>
          </a:xfrm>
          <a:custGeom>
            <a:avLst/>
            <a:gdLst/>
            <a:ahLst/>
            <a:cxnLst/>
            <a:rect r="r" b="b" t="t" l="l"/>
            <a:pathLst>
              <a:path h="2302479" w="2302479">
                <a:moveTo>
                  <a:pt x="0" y="0"/>
                </a:moveTo>
                <a:lnTo>
                  <a:pt x="2302480" y="0"/>
                </a:lnTo>
                <a:lnTo>
                  <a:pt x="2302480" y="2302479"/>
                </a:lnTo>
                <a:lnTo>
                  <a:pt x="0" y="23024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34646" y="6991305"/>
            <a:ext cx="2200647" cy="2200647"/>
          </a:xfrm>
          <a:custGeom>
            <a:avLst/>
            <a:gdLst/>
            <a:ahLst/>
            <a:cxnLst/>
            <a:rect r="r" b="b" t="t" l="l"/>
            <a:pathLst>
              <a:path h="2200647" w="2200647">
                <a:moveTo>
                  <a:pt x="0" y="0"/>
                </a:moveTo>
                <a:lnTo>
                  <a:pt x="2200647" y="0"/>
                </a:lnTo>
                <a:lnTo>
                  <a:pt x="2200647" y="2200647"/>
                </a:lnTo>
                <a:lnTo>
                  <a:pt x="0" y="22006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29965" y="4554736"/>
            <a:ext cx="2302479" cy="2302479"/>
          </a:xfrm>
          <a:custGeom>
            <a:avLst/>
            <a:gdLst/>
            <a:ahLst/>
            <a:cxnLst/>
            <a:rect r="r" b="b" t="t" l="l"/>
            <a:pathLst>
              <a:path h="2302479" w="2302479">
                <a:moveTo>
                  <a:pt x="0" y="0"/>
                </a:moveTo>
                <a:lnTo>
                  <a:pt x="2302480" y="0"/>
                </a:lnTo>
                <a:lnTo>
                  <a:pt x="2302480" y="2302480"/>
                </a:lnTo>
                <a:lnTo>
                  <a:pt x="0" y="23024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41521" y="6901504"/>
            <a:ext cx="4717312" cy="1957075"/>
          </a:xfrm>
          <a:custGeom>
            <a:avLst/>
            <a:gdLst/>
            <a:ahLst/>
            <a:cxnLst/>
            <a:rect r="r" b="b" t="t" l="l"/>
            <a:pathLst>
              <a:path h="1957075" w="4717312">
                <a:moveTo>
                  <a:pt x="0" y="0"/>
                </a:moveTo>
                <a:lnTo>
                  <a:pt x="4717311" y="0"/>
                </a:lnTo>
                <a:lnTo>
                  <a:pt x="4717311" y="1957076"/>
                </a:lnTo>
                <a:lnTo>
                  <a:pt x="0" y="195707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7622" t="-4384" r="-1267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27909" y="3757587"/>
            <a:ext cx="23122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2300003"/>
            <a:ext cx="1828800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3387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Backend: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69511" y="3757587"/>
            <a:ext cx="226293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Hosting: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67485" y="2734004"/>
            <a:ext cx="8800656" cy="7552996"/>
          </a:xfrm>
          <a:custGeom>
            <a:avLst/>
            <a:gdLst/>
            <a:ahLst/>
            <a:cxnLst/>
            <a:rect r="r" b="b" t="t" l="l"/>
            <a:pathLst>
              <a:path h="7552996" w="8800656">
                <a:moveTo>
                  <a:pt x="0" y="0"/>
                </a:moveTo>
                <a:lnTo>
                  <a:pt x="8800655" y="0"/>
                </a:lnTo>
                <a:lnTo>
                  <a:pt x="8800655" y="7552996"/>
                </a:lnTo>
                <a:lnTo>
                  <a:pt x="0" y="75529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9" t="0" r="-159" b="-81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3589" y="1792934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ER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65747" y="2860764"/>
            <a:ext cx="8414999" cy="7426236"/>
          </a:xfrm>
          <a:custGeom>
            <a:avLst/>
            <a:gdLst/>
            <a:ahLst/>
            <a:cxnLst/>
            <a:rect r="r" b="b" t="t" l="l"/>
            <a:pathLst>
              <a:path h="7426236" w="8414999">
                <a:moveTo>
                  <a:pt x="0" y="0"/>
                </a:moveTo>
                <a:lnTo>
                  <a:pt x="8414999" y="0"/>
                </a:lnTo>
                <a:lnTo>
                  <a:pt x="8414999" y="7426236"/>
                </a:lnTo>
                <a:lnTo>
                  <a:pt x="0" y="74262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919694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Context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1476" y="3016437"/>
            <a:ext cx="15125049" cy="7260023"/>
          </a:xfrm>
          <a:custGeom>
            <a:avLst/>
            <a:gdLst/>
            <a:ahLst/>
            <a:cxnLst/>
            <a:rect r="r" b="b" t="t" l="l"/>
            <a:pathLst>
              <a:path h="7260023" w="15125049">
                <a:moveTo>
                  <a:pt x="0" y="0"/>
                </a:moveTo>
                <a:lnTo>
                  <a:pt x="15125048" y="0"/>
                </a:lnTo>
                <a:lnTo>
                  <a:pt x="15125048" y="7260023"/>
                </a:lnTo>
                <a:lnTo>
                  <a:pt x="0" y="72600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61189"/>
            <a:ext cx="1422350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Architecture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84854" y="2841262"/>
            <a:ext cx="5761140" cy="7445738"/>
          </a:xfrm>
          <a:custGeom>
            <a:avLst/>
            <a:gdLst/>
            <a:ahLst/>
            <a:cxnLst/>
            <a:rect r="r" b="b" t="t" l="l"/>
            <a:pathLst>
              <a:path h="7445738" w="5761140">
                <a:moveTo>
                  <a:pt x="0" y="0"/>
                </a:moveTo>
                <a:lnTo>
                  <a:pt x="5761139" y="0"/>
                </a:lnTo>
                <a:lnTo>
                  <a:pt x="5761139" y="7445738"/>
                </a:lnTo>
                <a:lnTo>
                  <a:pt x="0" y="74457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5903" y="1900192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State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3964" y="2909518"/>
            <a:ext cx="7260131" cy="6962661"/>
          </a:xfrm>
          <a:custGeom>
            <a:avLst/>
            <a:gdLst/>
            <a:ahLst/>
            <a:cxnLst/>
            <a:rect r="r" b="b" t="t" l="l"/>
            <a:pathLst>
              <a:path h="6962661" w="7260131">
                <a:moveTo>
                  <a:pt x="0" y="0"/>
                </a:moveTo>
                <a:lnTo>
                  <a:pt x="7260131" y="0"/>
                </a:lnTo>
                <a:lnTo>
                  <a:pt x="7260131" y="6962660"/>
                </a:lnTo>
                <a:lnTo>
                  <a:pt x="0" y="69626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98540" y="2909518"/>
            <a:ext cx="8353054" cy="6962661"/>
          </a:xfrm>
          <a:custGeom>
            <a:avLst/>
            <a:gdLst/>
            <a:ahLst/>
            <a:cxnLst/>
            <a:rect r="r" b="b" t="t" l="l"/>
            <a:pathLst>
              <a:path h="6962661" w="8353054">
                <a:moveTo>
                  <a:pt x="0" y="0"/>
                </a:moveTo>
                <a:lnTo>
                  <a:pt x="8353054" y="0"/>
                </a:lnTo>
                <a:lnTo>
                  <a:pt x="8353054" y="6962660"/>
                </a:lnTo>
                <a:lnTo>
                  <a:pt x="0" y="69626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0197" y="1968448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Sequence Diagram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25538" y="2734299"/>
            <a:ext cx="6636924" cy="7552701"/>
          </a:xfrm>
          <a:custGeom>
            <a:avLst/>
            <a:gdLst/>
            <a:ahLst/>
            <a:cxnLst/>
            <a:rect r="r" b="b" t="t" l="l"/>
            <a:pathLst>
              <a:path h="7552701" w="6636924">
                <a:moveTo>
                  <a:pt x="0" y="0"/>
                </a:moveTo>
                <a:lnTo>
                  <a:pt x="6636924" y="0"/>
                </a:lnTo>
                <a:lnTo>
                  <a:pt x="6636924" y="7552701"/>
                </a:lnTo>
                <a:lnTo>
                  <a:pt x="0" y="75527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7285" y="1854189"/>
            <a:ext cx="17310715" cy="178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AI Recommendation Pipeline (FastAPI)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5979" y="3551422"/>
            <a:ext cx="8381807" cy="4952624"/>
          </a:xfrm>
          <a:custGeom>
            <a:avLst/>
            <a:gdLst/>
            <a:ahLst/>
            <a:cxnLst/>
            <a:rect r="r" b="b" t="t" l="l"/>
            <a:pathLst>
              <a:path h="4952624" w="8381807">
                <a:moveTo>
                  <a:pt x="0" y="0"/>
                </a:moveTo>
                <a:lnTo>
                  <a:pt x="8381807" y="0"/>
                </a:lnTo>
                <a:lnTo>
                  <a:pt x="8381807" y="4952624"/>
                </a:lnTo>
                <a:lnTo>
                  <a:pt x="0" y="49526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5802" b="-19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5511" y="3500627"/>
            <a:ext cx="8520644" cy="4952624"/>
          </a:xfrm>
          <a:custGeom>
            <a:avLst/>
            <a:gdLst/>
            <a:ahLst/>
            <a:cxnLst/>
            <a:rect r="r" b="b" t="t" l="l"/>
            <a:pathLst>
              <a:path h="4952624" w="8520644">
                <a:moveTo>
                  <a:pt x="0" y="0"/>
                </a:moveTo>
                <a:lnTo>
                  <a:pt x="8520643" y="0"/>
                </a:lnTo>
                <a:lnTo>
                  <a:pt x="8520643" y="4952624"/>
                </a:lnTo>
                <a:lnTo>
                  <a:pt x="0" y="4952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0280" y="96153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979" y="2140730"/>
            <a:ext cx="838180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Epic</a:t>
            </a: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urious -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 Recipes with Rating and Nutrition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599">
                <a:solidFill>
                  <a:srgbClr val="FF914D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https://www.kaggle.com/datasets/hugodarwood/epirecipes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3179" y="2140730"/>
            <a:ext cx="8412975" cy="122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1"/>
              </a:lnSpc>
              <a:spcBef>
                <a:spcPct val="0"/>
              </a:spcBef>
            </a:pPr>
            <a:r>
              <a:rPr lang="en-US" b="true" sz="3211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Daily Food &amp; Nutrition Dataset</a:t>
            </a:r>
          </a:p>
          <a:p>
            <a:pPr algn="ctr">
              <a:lnSpc>
                <a:spcPts val="1264"/>
              </a:lnSpc>
              <a:spcBef>
                <a:spcPct val="0"/>
              </a:spcBef>
            </a:pPr>
          </a:p>
          <a:p>
            <a:pPr algn="ctr">
              <a:lnSpc>
                <a:spcPts val="1685"/>
              </a:lnSpc>
              <a:spcBef>
                <a:spcPct val="0"/>
              </a:spcBef>
            </a:pPr>
            <a:r>
              <a:rPr lang="en-US" b="true" sz="1605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https://www.kaggle.com/datasets/adilshamim8/daily-food-and-nutrition-dataset</a:t>
            </a:r>
          </a:p>
          <a:p>
            <a:pPr algn="ctr">
              <a:lnSpc>
                <a:spcPts val="1685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32369" y="8595690"/>
            <a:ext cx="268902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20,000+ entries of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64522" y="8595690"/>
            <a:ext cx="234047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600+ entries of data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5979" y="1941195"/>
            <a:ext cx="15078460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AI Recipe Recommender (Scikit-Learn)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Convert text data into numerical vectors using TF-IDF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Retrieve user information and user input for what they’re “craving”.</a:t>
            </a:r>
          </a:p>
          <a:p>
            <a:pPr algn="l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Clean user input by stripping symbols and spacing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Compare user input with recipe vectors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Cosine similarity measures matches with the user’s input and recipes in the dataset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Ranks recipe by similarity score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Returns top matching recipes as recommendations</a:t>
            </a:r>
          </a:p>
          <a:p>
            <a:pPr algn="l" marL="1295400" indent="-431800" lvl="2">
              <a:lnSpc>
                <a:spcPts val="4200"/>
              </a:lnSpc>
              <a:buAutoNum type="alpha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Improvements: 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Implemented into FastApi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Connected algorithm to NutriAI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Enhanced AI Recommender Logic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52851" y="7797823"/>
            <a:ext cx="9830158" cy="2405184"/>
          </a:xfrm>
          <a:custGeom>
            <a:avLst/>
            <a:gdLst/>
            <a:ahLst/>
            <a:cxnLst/>
            <a:rect r="r" b="b" t="t" l="l"/>
            <a:pathLst>
              <a:path h="2405184" w="9830158">
                <a:moveTo>
                  <a:pt x="0" y="0"/>
                </a:moveTo>
                <a:lnTo>
                  <a:pt x="9830158" y="0"/>
                </a:lnTo>
                <a:lnTo>
                  <a:pt x="9830158" y="2405184"/>
                </a:lnTo>
                <a:lnTo>
                  <a:pt x="0" y="2405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504" r="-800" b="-61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23935" y="739936"/>
            <a:ext cx="2459073" cy="2459073"/>
          </a:xfrm>
          <a:custGeom>
            <a:avLst/>
            <a:gdLst/>
            <a:ahLst/>
            <a:cxnLst/>
            <a:rect r="r" b="b" t="t" l="l"/>
            <a:pathLst>
              <a:path h="2459073" w="2459073">
                <a:moveTo>
                  <a:pt x="0" y="0"/>
                </a:moveTo>
                <a:lnTo>
                  <a:pt x="2459074" y="0"/>
                </a:lnTo>
                <a:lnTo>
                  <a:pt x="2459074" y="2459073"/>
                </a:lnTo>
                <a:lnTo>
                  <a:pt x="0" y="2459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5979" y="105727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7649" y="1406028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1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7649" y="3120390"/>
            <a:ext cx="12528153" cy="507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Environment setup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Next.js frontend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MongoDB database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Core Application Pages Built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User profile &amp; landing page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Authentication pages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AI Recommendation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Functionality for hungry and craving buttons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User functionality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Daily log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Daily check-in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BMI Calculator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45164" y="6541458"/>
            <a:ext cx="2581836" cy="2581836"/>
          </a:xfrm>
          <a:custGeom>
            <a:avLst/>
            <a:gdLst/>
            <a:ahLst/>
            <a:cxnLst/>
            <a:rect r="r" b="b" t="t" l="l"/>
            <a:pathLst>
              <a:path h="2581836" w="2581836">
                <a:moveTo>
                  <a:pt x="0" y="0"/>
                </a:moveTo>
                <a:lnTo>
                  <a:pt x="2581836" y="0"/>
                </a:lnTo>
                <a:lnTo>
                  <a:pt x="2581836" y="2581836"/>
                </a:lnTo>
                <a:lnTo>
                  <a:pt x="0" y="2581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30406" y="6646449"/>
            <a:ext cx="2212131" cy="2212131"/>
          </a:xfrm>
          <a:custGeom>
            <a:avLst/>
            <a:gdLst/>
            <a:ahLst/>
            <a:cxnLst/>
            <a:rect r="r" b="b" t="t" l="l"/>
            <a:pathLst>
              <a:path h="2212131" w="2212131">
                <a:moveTo>
                  <a:pt x="0" y="0"/>
                </a:moveTo>
                <a:lnTo>
                  <a:pt x="2212131" y="0"/>
                </a:lnTo>
                <a:lnTo>
                  <a:pt x="2212131" y="2212131"/>
                </a:lnTo>
                <a:lnTo>
                  <a:pt x="0" y="22121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9628" y="6646449"/>
            <a:ext cx="2212131" cy="2212131"/>
          </a:xfrm>
          <a:custGeom>
            <a:avLst/>
            <a:gdLst/>
            <a:ahLst/>
            <a:cxnLst/>
            <a:rect r="r" b="b" t="t" l="l"/>
            <a:pathLst>
              <a:path h="2212131" w="2212131">
                <a:moveTo>
                  <a:pt x="0" y="0"/>
                </a:moveTo>
                <a:lnTo>
                  <a:pt x="2212131" y="0"/>
                </a:lnTo>
                <a:lnTo>
                  <a:pt x="2212131" y="2212131"/>
                </a:lnTo>
                <a:lnTo>
                  <a:pt x="0" y="2212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7649" y="1396503"/>
            <a:ext cx="1318078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 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0661" y="3006089"/>
            <a:ext cx="16125493" cy="329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281" indent="-444641" lvl="1">
              <a:lnSpc>
                <a:spcPts val="4324"/>
              </a:lnSpc>
              <a:buFont typeface="Arial"/>
              <a:buChar char="•"/>
            </a:pPr>
            <a:r>
              <a:rPr lang="en-US" sz="4118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Recipes Database Implemented</a:t>
            </a:r>
          </a:p>
          <a:p>
            <a:pPr algn="l" marL="889281" indent="-444641" lvl="1">
              <a:lnSpc>
                <a:spcPts val="4324"/>
              </a:lnSpc>
              <a:buFont typeface="Arial"/>
              <a:buChar char="•"/>
            </a:pPr>
            <a:r>
              <a:rPr lang="en-US" sz="4118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Calorie Tracker for Daily Logs</a:t>
            </a:r>
          </a:p>
          <a:p>
            <a:pPr algn="l" marL="889281" indent="-444641" lvl="1">
              <a:lnSpc>
                <a:spcPts val="4324"/>
              </a:lnSpc>
              <a:buFont typeface="Arial"/>
              <a:buChar char="•"/>
            </a:pPr>
            <a:r>
              <a:rPr lang="en-US" sz="4118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Calorie tracker underwent testing - updates followed in sprint 3</a:t>
            </a:r>
          </a:p>
          <a:p>
            <a:pPr algn="l" marL="889281" indent="-444641" lvl="1">
              <a:lnSpc>
                <a:spcPts val="4324"/>
              </a:lnSpc>
              <a:buFont typeface="Arial"/>
              <a:buChar char="•"/>
            </a:pPr>
            <a:r>
              <a:rPr lang="en-US" sz="4118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Craving and hunger events functionality is complete</a:t>
            </a:r>
          </a:p>
          <a:p>
            <a:pPr algn="l" marL="889281" indent="-444641" lvl="1">
              <a:lnSpc>
                <a:spcPts val="4324"/>
              </a:lnSpc>
              <a:buFont typeface="Arial"/>
              <a:buChar char="•"/>
            </a:pPr>
            <a:r>
              <a:rPr lang="en-US" sz="4118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Connected app to AI Python API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423439" y="1762914"/>
          <a:ext cx="12773025" cy="10058400"/>
        </p:xfrm>
        <a:graphic>
          <a:graphicData uri="http://schemas.openxmlformats.org/presentationml/2006/ole">
            <p:oleObj imgW="15316200" imgH="12611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781409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 Backlog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1957242"/>
          <a:ext cx="17125950" cy="6286500"/>
        </p:xfrm>
        <a:graphic>
          <a:graphicData uri="http://schemas.openxmlformats.org/presentationml/2006/ole">
            <p:oleObj imgW="20548600" imgH="9715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1908347"/>
          <a:ext cx="17125950" cy="6286500"/>
        </p:xfrm>
        <a:graphic>
          <a:graphicData uri="http://schemas.openxmlformats.org/presentationml/2006/ole">
            <p:oleObj imgW="20548600" imgH="9715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1822403"/>
          <a:ext cx="17125950" cy="6286500"/>
        </p:xfrm>
        <a:graphic>
          <a:graphicData uri="http://schemas.openxmlformats.org/presentationml/2006/ole">
            <p:oleObj imgW="20548600" imgH="9715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1784397"/>
          <a:ext cx="17125950" cy="6286500"/>
        </p:xfrm>
        <a:graphic>
          <a:graphicData uri="http://schemas.openxmlformats.org/presentationml/2006/ole">
            <p:oleObj imgW="20548600" imgH="9715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1812737"/>
          <a:ext cx="17125950" cy="6286500"/>
        </p:xfrm>
        <a:graphic>
          <a:graphicData uri="http://schemas.openxmlformats.org/presentationml/2006/ole">
            <p:oleObj imgW="20548600" imgH="9715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32463" y="3107854"/>
            <a:ext cx="8670698" cy="5354156"/>
          </a:xfrm>
          <a:custGeom>
            <a:avLst/>
            <a:gdLst/>
            <a:ahLst/>
            <a:cxnLst/>
            <a:rect r="r" b="b" t="t" l="l"/>
            <a:pathLst>
              <a:path h="5354156" w="8670698">
                <a:moveTo>
                  <a:pt x="0" y="0"/>
                </a:moveTo>
                <a:lnTo>
                  <a:pt x="8670699" y="0"/>
                </a:lnTo>
                <a:lnTo>
                  <a:pt x="8670699" y="5354156"/>
                </a:lnTo>
                <a:lnTo>
                  <a:pt x="0" y="5354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5770" y="2141476"/>
            <a:ext cx="1401086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3 - Completed/Committed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8568" y="8490585"/>
            <a:ext cx="14010864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5600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100%!</a:t>
            </a:r>
          </a:p>
          <a:p>
            <a:pPr algn="ctr">
              <a:lnSpc>
                <a:spcPts val="5880"/>
              </a:lnSpc>
            </a:pPr>
            <a:r>
              <a:rPr lang="en-US" sz="5600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88/88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5581" y="3165922"/>
            <a:ext cx="7125808" cy="4444723"/>
          </a:xfrm>
          <a:custGeom>
            <a:avLst/>
            <a:gdLst/>
            <a:ahLst/>
            <a:cxnLst/>
            <a:rect r="r" b="b" t="t" l="l"/>
            <a:pathLst>
              <a:path h="4444723" w="7125808">
                <a:moveTo>
                  <a:pt x="0" y="0"/>
                </a:moveTo>
                <a:lnTo>
                  <a:pt x="7125808" y="0"/>
                </a:lnTo>
                <a:lnTo>
                  <a:pt x="7125808" y="4444722"/>
                </a:lnTo>
                <a:lnTo>
                  <a:pt x="0" y="44447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87130" y="3165922"/>
            <a:ext cx="7256690" cy="4444723"/>
          </a:xfrm>
          <a:custGeom>
            <a:avLst/>
            <a:gdLst/>
            <a:ahLst/>
            <a:cxnLst/>
            <a:rect r="r" b="b" t="t" l="l"/>
            <a:pathLst>
              <a:path h="4444723" w="7256690">
                <a:moveTo>
                  <a:pt x="0" y="0"/>
                </a:moveTo>
                <a:lnTo>
                  <a:pt x="7256690" y="0"/>
                </a:lnTo>
                <a:lnTo>
                  <a:pt x="7256690" y="4444722"/>
                </a:lnTo>
                <a:lnTo>
                  <a:pt x="0" y="44447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89159" y="2224852"/>
            <a:ext cx="1410968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Historical Completed/Completed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8745" y="7677796"/>
            <a:ext cx="1738482" cy="118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2</a:t>
            </a:r>
          </a:p>
          <a:p>
            <a:pPr algn="l">
              <a:lnSpc>
                <a:spcPts val="479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737381" y="7677796"/>
            <a:ext cx="1738482" cy="118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1</a:t>
            </a:r>
          </a:p>
          <a:p>
            <a:pPr algn="l">
              <a:lnSpc>
                <a:spcPts val="479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37381" y="8337599"/>
            <a:ext cx="1738482" cy="117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20.5%</a:t>
            </a:r>
          </a:p>
          <a:p>
            <a:pPr algn="ctr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32/156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88745" y="8337599"/>
            <a:ext cx="1738482" cy="117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42.1%</a:t>
            </a:r>
          </a:p>
          <a:p>
            <a:pPr algn="ctr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56/133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75863" y="9450774"/>
            <a:ext cx="5912882" cy="57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Average: 54.2%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4328982" y="10954619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4" y="18074414"/>
                </a:moveTo>
                <a:lnTo>
                  <a:pt x="0" y="18074414"/>
                </a:lnTo>
                <a:lnTo>
                  <a:pt x="0" y="0"/>
                </a:lnTo>
                <a:lnTo>
                  <a:pt x="20568324" y="0"/>
                </a:lnTo>
                <a:lnTo>
                  <a:pt x="20568324" y="1807441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91748" y="3052199"/>
            <a:ext cx="11104504" cy="6940315"/>
          </a:xfrm>
          <a:custGeom>
            <a:avLst/>
            <a:gdLst/>
            <a:ahLst/>
            <a:cxnLst/>
            <a:rect r="r" b="b" t="t" l="l"/>
            <a:pathLst>
              <a:path h="6940315" w="11104504">
                <a:moveTo>
                  <a:pt x="0" y="0"/>
                </a:moveTo>
                <a:lnTo>
                  <a:pt x="11104504" y="0"/>
                </a:lnTo>
                <a:lnTo>
                  <a:pt x="11104504" y="6940315"/>
                </a:lnTo>
                <a:lnTo>
                  <a:pt x="0" y="69403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108744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 Burndown Chart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207301"/>
            <a:ext cx="7994062" cy="4946326"/>
          </a:xfrm>
          <a:custGeom>
            <a:avLst/>
            <a:gdLst/>
            <a:ahLst/>
            <a:cxnLst/>
            <a:rect r="r" b="b" t="t" l="l"/>
            <a:pathLst>
              <a:path h="4946326" w="7994062">
                <a:moveTo>
                  <a:pt x="0" y="0"/>
                </a:moveTo>
                <a:lnTo>
                  <a:pt x="7994062" y="0"/>
                </a:lnTo>
                <a:lnTo>
                  <a:pt x="7994062" y="4946325"/>
                </a:lnTo>
                <a:lnTo>
                  <a:pt x="0" y="494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84115" y="3207301"/>
            <a:ext cx="8059186" cy="4946326"/>
          </a:xfrm>
          <a:custGeom>
            <a:avLst/>
            <a:gdLst/>
            <a:ahLst/>
            <a:cxnLst/>
            <a:rect r="r" b="b" t="t" l="l"/>
            <a:pathLst>
              <a:path h="4946326" w="8059186">
                <a:moveTo>
                  <a:pt x="0" y="0"/>
                </a:moveTo>
                <a:lnTo>
                  <a:pt x="8059187" y="0"/>
                </a:lnTo>
                <a:lnTo>
                  <a:pt x="8059187" y="4946325"/>
                </a:lnTo>
                <a:lnTo>
                  <a:pt x="0" y="494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266231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Historical Burndown Charts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4467" y="8328549"/>
            <a:ext cx="1738482" cy="118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2</a:t>
            </a:r>
          </a:p>
          <a:p>
            <a:pPr algn="l">
              <a:lnSpc>
                <a:spcPts val="479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50121" y="8328549"/>
            <a:ext cx="1738482" cy="118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Sprint 1</a:t>
            </a:r>
          </a:p>
          <a:p>
            <a:pPr algn="l">
              <a:lnSpc>
                <a:spcPts val="4793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31167" y="3433883"/>
            <a:ext cx="9625665" cy="6425132"/>
          </a:xfrm>
          <a:custGeom>
            <a:avLst/>
            <a:gdLst/>
            <a:ahLst/>
            <a:cxnLst/>
            <a:rect r="r" b="b" t="t" l="l"/>
            <a:pathLst>
              <a:path h="6425132" w="9625665">
                <a:moveTo>
                  <a:pt x="0" y="0"/>
                </a:moveTo>
                <a:lnTo>
                  <a:pt x="9625666" y="0"/>
                </a:lnTo>
                <a:lnTo>
                  <a:pt x="9625666" y="6425132"/>
                </a:lnTo>
                <a:lnTo>
                  <a:pt x="0" y="64251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Retrospective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5979" y="1714370"/>
            <a:ext cx="622474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AI Disclosure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7360" y="2598290"/>
            <a:ext cx="15375804" cy="541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AI Was Used To:</a:t>
            </a:r>
          </a:p>
          <a:p>
            <a:pPr algn="l" marL="739281" indent="-369640" lvl="1">
              <a:lnSpc>
                <a:spcPts val="4793"/>
              </a:lnSpc>
              <a:buFont typeface="Arial"/>
              <a:buChar char="•"/>
            </a:pPr>
            <a:r>
              <a:rPr lang="en-US" sz="3424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Rapidly prototype screens</a:t>
            </a:r>
          </a:p>
          <a:p>
            <a:pPr algn="l" marL="739281" indent="-369640" lvl="1">
              <a:lnSpc>
                <a:spcPts val="4793"/>
              </a:lnSpc>
              <a:buFont typeface="Arial"/>
              <a:buChar char="•"/>
            </a:pPr>
            <a:r>
              <a:rPr lang="en-US" sz="3424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Provide answers on language’s syntax or usage</a:t>
            </a:r>
          </a:p>
          <a:p>
            <a:pPr algn="l">
              <a:lnSpc>
                <a:spcPts val="4793"/>
              </a:lnSpc>
            </a:pPr>
          </a:p>
          <a:p>
            <a:pPr algn="l">
              <a:lnSpc>
                <a:spcPts val="4793"/>
              </a:lnSpc>
            </a:pPr>
            <a:r>
              <a:rPr lang="en-US" sz="3424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AI Was NOT Used To:</a:t>
            </a:r>
          </a:p>
          <a:p>
            <a:pPr algn="l" marL="739281" indent="-369640" lvl="1">
              <a:lnSpc>
                <a:spcPts val="4793"/>
              </a:lnSpc>
              <a:buFont typeface="Arial"/>
              <a:buChar char="•"/>
            </a:pPr>
            <a:r>
              <a:rPr lang="en-US" sz="3424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Generate ideas or features</a:t>
            </a:r>
          </a:p>
          <a:p>
            <a:pPr algn="l" marL="739281" indent="-369640" lvl="1">
              <a:lnSpc>
                <a:spcPts val="4793"/>
              </a:lnSpc>
              <a:buFont typeface="Arial"/>
              <a:buChar char="•"/>
            </a:pPr>
            <a:r>
              <a:rPr lang="en-US" sz="3424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Develop overall tech stack or flow between different components of the tech stack</a:t>
            </a:r>
          </a:p>
          <a:p>
            <a:pPr algn="l" marL="739281" indent="-369640" lvl="1">
              <a:lnSpc>
                <a:spcPts val="4793"/>
              </a:lnSpc>
              <a:buFont typeface="Arial"/>
              <a:buChar char="•"/>
            </a:pPr>
            <a:r>
              <a:rPr lang="en-US" sz="3424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Design key algorithms for NutriAI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98451" y="1038197"/>
            <a:ext cx="3964713" cy="2264842"/>
          </a:xfrm>
          <a:custGeom>
            <a:avLst/>
            <a:gdLst/>
            <a:ahLst/>
            <a:cxnLst/>
            <a:rect r="r" b="b" t="t" l="l"/>
            <a:pathLst>
              <a:path h="2264842" w="3964713">
                <a:moveTo>
                  <a:pt x="0" y="0"/>
                </a:moveTo>
                <a:lnTo>
                  <a:pt x="3964713" y="0"/>
                </a:lnTo>
                <a:lnTo>
                  <a:pt x="3964713" y="2264842"/>
                </a:lnTo>
                <a:lnTo>
                  <a:pt x="0" y="22648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09777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Working Agreement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5007" y="2603222"/>
            <a:ext cx="7432204" cy="674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Communication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video meeting Saturday @ 4PM on Discord for updates and planning.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WhatsApp check-in on Wednesdays </a:t>
            </a:r>
            <a:r>
              <a:rPr lang="en-US" b="true" sz="24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for status updates.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Members must give advance notice if missing meetings or becoming inactive.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Workflow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Each member works on their assigned feature branch.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 T</a:t>
            </a: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ask Tracker will manage assignments and deadlines.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Code merges require coordination and pull request approval.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065040" y="2603222"/>
            <a:ext cx="7794318" cy="553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Team Values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Treat all team members with respect.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Disagree professionally without personal attacks.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Raise concerns with the team before escalating.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Share work fairly.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u="sng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Marking Tasks Complete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Features must meet agreed requirements.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Open a pull request and receive at least two approvals.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Update documentation and disclose any AI tool usage.</a:t>
            </a:r>
          </a:p>
          <a:p>
            <a:pPr algn="l">
              <a:lnSpc>
                <a:spcPts val="3676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39525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4" y="0"/>
                </a:lnTo>
                <a:lnTo>
                  <a:pt x="11066294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15139" y="2512606"/>
            <a:ext cx="11757118" cy="7774394"/>
          </a:xfrm>
          <a:custGeom>
            <a:avLst/>
            <a:gdLst/>
            <a:ahLst/>
            <a:cxnLst/>
            <a:rect r="r" b="b" t="t" l="l"/>
            <a:pathLst>
              <a:path h="7774394" w="11757118">
                <a:moveTo>
                  <a:pt x="0" y="0"/>
                </a:moveTo>
                <a:lnTo>
                  <a:pt x="11757118" y="0"/>
                </a:lnTo>
                <a:lnTo>
                  <a:pt x="11757118" y="7774394"/>
                </a:lnTo>
                <a:lnTo>
                  <a:pt x="0" y="7774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5139" y="1800136"/>
            <a:ext cx="1175711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u="sng">
                <a:solidFill>
                  <a:srgbClr val="FFBD59"/>
                </a:solidFill>
                <a:latin typeface="Nunito"/>
                <a:ea typeface="Nunito"/>
                <a:cs typeface="Nunito"/>
                <a:sym typeface="Nunito"/>
                <a:hlinkClick r:id="rId10" tooltip="https://2026-sa-tech-docs.vercel.app"/>
              </a:rPr>
              <a:t>https://2026-sa-tech-docs.vercel.app/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840480" y="1028700"/>
            <a:ext cx="1617596" cy="1653542"/>
          </a:xfrm>
          <a:custGeom>
            <a:avLst/>
            <a:gdLst/>
            <a:ahLst/>
            <a:cxnLst/>
            <a:rect r="r" b="b" t="t" l="l"/>
            <a:pathLst>
              <a:path h="1653542" w="1617596">
                <a:moveTo>
                  <a:pt x="0" y="0"/>
                </a:moveTo>
                <a:lnTo>
                  <a:pt x="1617595" y="0"/>
                </a:lnTo>
                <a:lnTo>
                  <a:pt x="1617595" y="1653542"/>
                </a:lnTo>
                <a:lnTo>
                  <a:pt x="0" y="16535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11" t="0" r="-1111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66231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Wiki 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4811" y="5067300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BD59"/>
                </a:solidFill>
                <a:latin typeface="Nunito"/>
                <a:ea typeface="Nunito"/>
                <a:cs typeface="Nunito"/>
                <a:sym typeface="Nunito"/>
              </a:rPr>
              <a:t>https://github.com/htmw/2026SA-TechDocs/wiki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4502" y="4713373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6399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DAHJGubyQ1c</dc:identifier>
  <dcterms:modified xsi:type="dcterms:W3CDTF">2011-08-01T06:04:30Z</dcterms:modified>
  <cp:revision>1</cp:revision>
  <dc:title>Capstone Project Sprint 3</dc:title>
</cp:coreProperties>
</file>